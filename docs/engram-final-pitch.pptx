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1" d="100"/>
          <a:sy n="111" d="100"/>
        </p:scale>
        <p:origin x="542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772400" y="45720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772400" y="82296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0" y="118872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772400" y="155448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772400" y="192024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772400" y="228600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138160" y="45720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138160" y="82296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138160" y="118872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138160" y="155448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138160" y="192024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138160" y="228600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503920" y="45720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503920" y="82296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503920" y="118872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503920" y="155448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503920" y="192024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503920" y="228600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869680" y="45720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8869680" y="82296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8869680" y="118872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8869680" y="155448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8869680" y="192024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8869680" y="228600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9235440" y="45720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9235440" y="82296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9235440" y="118872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9235440" y="155448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9235440" y="192024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9235440" y="228600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9601200" y="45720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9601200" y="82296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9601200" y="118872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9601200" y="155448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9601200" y="192024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9601200" y="228600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9966960" y="45720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9966960" y="82296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9966960" y="118872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9966960" y="155448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9966960" y="192024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9966960" y="228600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10332720" y="45720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10332720" y="82296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10332720" y="118872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10332720" y="155448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10332720" y="192024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10332720" y="228600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10698480" y="45720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10698480" y="82296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10698480" y="118872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10698480" y="155448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10698480" y="192024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10698480" y="228600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11064240" y="45720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11064240" y="82296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11064240" y="118872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61"/>
          <p:cNvSpPr/>
          <p:nvPr/>
        </p:nvSpPr>
        <p:spPr>
          <a:xfrm>
            <a:off x="11064240" y="155448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11064240" y="192024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11064240" y="228600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11430000" y="45720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11430000" y="82296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Oval 66"/>
          <p:cNvSpPr/>
          <p:nvPr/>
        </p:nvSpPr>
        <p:spPr>
          <a:xfrm>
            <a:off x="11430000" y="118872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11430000" y="155448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Oval 68"/>
          <p:cNvSpPr/>
          <p:nvPr/>
        </p:nvSpPr>
        <p:spPr>
          <a:xfrm>
            <a:off x="11430000" y="192024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Oval 69"/>
          <p:cNvSpPr/>
          <p:nvPr/>
        </p:nvSpPr>
        <p:spPr>
          <a:xfrm>
            <a:off x="11430000" y="228600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Oval 70"/>
          <p:cNvSpPr/>
          <p:nvPr/>
        </p:nvSpPr>
        <p:spPr>
          <a:xfrm>
            <a:off x="11795760" y="45720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Oval 71"/>
          <p:cNvSpPr/>
          <p:nvPr/>
        </p:nvSpPr>
        <p:spPr>
          <a:xfrm>
            <a:off x="11795760" y="82296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Oval 72"/>
          <p:cNvSpPr/>
          <p:nvPr/>
        </p:nvSpPr>
        <p:spPr>
          <a:xfrm>
            <a:off x="11795760" y="118872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Oval 73"/>
          <p:cNvSpPr/>
          <p:nvPr/>
        </p:nvSpPr>
        <p:spPr>
          <a:xfrm>
            <a:off x="11795760" y="155448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Oval 74"/>
          <p:cNvSpPr/>
          <p:nvPr/>
        </p:nvSpPr>
        <p:spPr>
          <a:xfrm>
            <a:off x="11795760" y="192024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Oval 75"/>
          <p:cNvSpPr/>
          <p:nvPr/>
        </p:nvSpPr>
        <p:spPr>
          <a:xfrm>
            <a:off x="11795760" y="228600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ounded Rectangle 76"/>
          <p:cNvSpPr/>
          <p:nvPr/>
        </p:nvSpPr>
        <p:spPr>
          <a:xfrm>
            <a:off x="640080" y="1783080"/>
            <a:ext cx="2743200" cy="36576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640080" y="1819656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2563EB"/>
                </a:solidFill>
                <a:latin typeface="Segoe UI Semibold"/>
              </a:rPr>
              <a:t>SHARED MEMORY FOR YOUR TEAM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48640" y="2423160"/>
            <a:ext cx="1097280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00" b="0" i="0">
                <a:solidFill>
                  <a:srgbClr val="0F172A"/>
                </a:solidFill>
                <a:latin typeface="Segoe UI Light"/>
              </a:rPr>
              <a:t>Engram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58368" y="379476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2563EB"/>
                </a:solidFill>
                <a:latin typeface="Segoe UI Semibold"/>
              </a:rPr>
              <a:t>memory for Cline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58368" y="452628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 i="1">
                <a:solidFill>
                  <a:srgbClr val="334155"/>
                </a:solidFill>
                <a:latin typeface="Segoe UI"/>
              </a:rPr>
              <a:t>Cline, but it never forgets.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58368" y="5212080"/>
            <a:ext cx="73152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658368" y="544068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64748B"/>
                </a:solidFill>
                <a:latin typeface="Segoe UI"/>
              </a:rPr>
              <a:t>A persistent, project-scoped memory every developer's Cline reads from and writes to.</a:t>
            </a:r>
          </a:p>
        </p:txBody>
      </p:sp>
      <p:sp>
        <p:nvSpPr>
          <p:cNvPr id="84" name="Rectangle 83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4748B"/>
                </a:solidFill>
                <a:latin typeface="Segoe UI"/>
              </a:rPr>
              <a:t>Persistent · Project-scoped · Team-shared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0" y="320040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64748B"/>
                </a:solidFill>
                <a:latin typeface="Segoe UI"/>
              </a:rPr>
              <a:t>Engram  ×  Cline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65760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384048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2563EB"/>
                </a:solidFill>
                <a:latin typeface="Segoe UI Semibold"/>
              </a:rP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04672"/>
            <a:ext cx="1097280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F172A"/>
                </a:solidFill>
                <a:latin typeface="Segoe UI Semibold"/>
              </a:rPr>
              <a:t>Cline 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08176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64748B"/>
                </a:solidFill>
                <a:latin typeface="Segoe UI"/>
              </a:rPr>
              <a:t>Cline is brilliant in the moment — and forgets everything between sessions.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1810512"/>
            <a:ext cx="548640" cy="0"/>
          </a:xfrm>
          <a:prstGeom prst="line">
            <a:avLst/>
          </a:prstGeom>
          <a:ln w="31750">
            <a:solidFill>
              <a:srgbClr val="2563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6711696"/>
            <a:ext cx="548640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Engram — shared memory for AI coding agents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6711696"/>
            <a:ext cx="539496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02  /  10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240280"/>
            <a:ext cx="5212080" cy="38404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40080" y="2240280"/>
            <a:ext cx="5212080" cy="64008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2606040"/>
            <a:ext cx="448056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>
                <a:solidFill>
                  <a:srgbClr val="0F172A"/>
                </a:solidFill>
                <a:latin typeface="Segoe UI Semibold"/>
              </a:rPr>
              <a:t>Every session starts from zero.</a:t>
            </a:r>
          </a:p>
          <a:p>
            <a:pPr algn="l">
              <a:lnSpc>
                <a:spcPct val="140000"/>
              </a:lnSpc>
              <a:spcBef>
                <a:spcPts val="1200"/>
              </a:spcBef>
            </a:pPr>
            <a:r>
              <a:rPr sz="1300" b="0" i="0">
                <a:solidFill>
                  <a:srgbClr val="334155"/>
                </a:solidFill>
                <a:latin typeface="Segoe UI"/>
              </a:rPr>
              <a:t>Cline re-reads context, re-asks settled questions, and re-derives the same conclusions every time.</a:t>
            </a:r>
          </a:p>
          <a:p>
            <a:pPr algn="l">
              <a:lnSpc>
                <a:spcPct val="140000"/>
              </a:lnSpc>
              <a:spcBef>
                <a:spcPts val="1200"/>
              </a:spcBef>
            </a:pPr>
            <a:r>
              <a:rPr sz="1300" b="0" i="0">
                <a:solidFill>
                  <a:srgbClr val="334155"/>
                </a:solidFill>
                <a:latin typeface="Segoe UI"/>
              </a:rPr>
              <a:t>Knowledge from one chat evaporates when it closes — and nothing one developer's Cline learns ever reaches another's.</a:t>
            </a:r>
          </a:p>
          <a:p>
            <a:pPr algn="l">
              <a:lnSpc>
                <a:spcPct val="140000"/>
              </a:lnSpc>
              <a:spcBef>
                <a:spcPts val="1400"/>
              </a:spcBef>
            </a:pPr>
            <a:r>
              <a:rPr sz="1300" b="1" i="0">
                <a:solidFill>
                  <a:srgbClr val="DC2626"/>
                </a:solidFill>
                <a:latin typeface="Segoe UI"/>
              </a:rPr>
              <a:t>It's stateless. Amnesiac across time, and isolated per developer.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0" y="2240280"/>
            <a:ext cx="5513832" cy="38404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035040" y="2240280"/>
            <a:ext cx="5513832" cy="64008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0" y="2560320"/>
            <a:ext cx="478231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DC2626"/>
                </a:solidFill>
                <a:latin typeface="Segoe UI Semibold"/>
              </a:rPr>
              <a:t>What Cline can't remember tomorrow</a:t>
            </a:r>
          </a:p>
        </p:txBody>
      </p:sp>
      <p:sp>
        <p:nvSpPr>
          <p:cNvPr id="19" name="Oval 18"/>
          <p:cNvSpPr/>
          <p:nvPr/>
        </p:nvSpPr>
        <p:spPr>
          <a:xfrm>
            <a:off x="6446520" y="3118104"/>
            <a:ext cx="274320" cy="274320"/>
          </a:xfrm>
          <a:prstGeom prst="ellipse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57177" y="3141134"/>
            <a:ext cx="274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Segoe UI Semibold"/>
              </a:rPr>
              <a:t>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3127248"/>
            <a:ext cx="432511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334155"/>
                </a:solidFill>
                <a:latin typeface="Segoe UI"/>
              </a:rPr>
              <a:t>Why we made the refund flow idempotent</a:t>
            </a:r>
          </a:p>
        </p:txBody>
      </p:sp>
      <p:sp>
        <p:nvSpPr>
          <p:cNvPr id="22" name="Oval 21"/>
          <p:cNvSpPr/>
          <p:nvPr/>
        </p:nvSpPr>
        <p:spPr>
          <a:xfrm>
            <a:off x="6446520" y="3685032"/>
            <a:ext cx="274320" cy="274320"/>
          </a:xfrm>
          <a:prstGeom prst="ellipse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57177" y="3708062"/>
            <a:ext cx="274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Segoe UI Semibold"/>
              </a:rPr>
              <a:t>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3694176"/>
            <a:ext cx="432511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334155"/>
                </a:solidFill>
                <a:latin typeface="Segoe UI"/>
              </a:rPr>
              <a:t>How this service gets deployed</a:t>
            </a:r>
          </a:p>
        </p:txBody>
      </p:sp>
      <p:sp>
        <p:nvSpPr>
          <p:cNvPr id="25" name="Oval 24"/>
          <p:cNvSpPr/>
          <p:nvPr/>
        </p:nvSpPr>
        <p:spPr>
          <a:xfrm>
            <a:off x="6446520" y="4251960"/>
            <a:ext cx="274320" cy="274320"/>
          </a:xfrm>
          <a:prstGeom prst="ellipse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57177" y="427499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Segoe UI Semibold"/>
              </a:rPr>
              <a:t>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4261104"/>
            <a:ext cx="432511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334155"/>
                </a:solidFill>
                <a:latin typeface="Segoe UI"/>
              </a:rPr>
              <a:t>The naming conventions we agreed on</a:t>
            </a:r>
          </a:p>
        </p:txBody>
      </p:sp>
      <p:sp>
        <p:nvSpPr>
          <p:cNvPr id="28" name="Oval 27"/>
          <p:cNvSpPr/>
          <p:nvPr/>
        </p:nvSpPr>
        <p:spPr>
          <a:xfrm>
            <a:off x="6446520" y="4818888"/>
            <a:ext cx="274320" cy="274320"/>
          </a:xfrm>
          <a:prstGeom prst="ellipse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57177" y="4841918"/>
            <a:ext cx="274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Segoe UI Semibold"/>
              </a:rPr>
              <a:t>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03720" y="4828032"/>
            <a:ext cx="432511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334155"/>
                </a:solidFill>
                <a:latin typeface="Segoe UI"/>
              </a:rPr>
              <a:t>That this exact bug was hit before</a:t>
            </a:r>
          </a:p>
        </p:txBody>
      </p:sp>
      <p:sp>
        <p:nvSpPr>
          <p:cNvPr id="31" name="Oval 30"/>
          <p:cNvSpPr/>
          <p:nvPr/>
        </p:nvSpPr>
        <p:spPr>
          <a:xfrm>
            <a:off x="6446520" y="5385816"/>
            <a:ext cx="274320" cy="274320"/>
          </a:xfrm>
          <a:prstGeom prst="ellipse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46520" y="5408846"/>
            <a:ext cx="274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Segoe UI Semibold"/>
              </a:rPr>
              <a:t>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03720" y="5394960"/>
            <a:ext cx="432511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334155"/>
                </a:solidFill>
                <a:latin typeface="Segoe UI"/>
              </a:rPr>
              <a:t>What a teammate's Cline figured out yesterday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0" y="320040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64748B"/>
                </a:solidFill>
                <a:latin typeface="Segoe UI"/>
              </a:rPr>
              <a:t>Engram  ×  Cline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65760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384048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2563EB"/>
                </a:solidFill>
                <a:latin typeface="Segoe UI Semibold"/>
              </a:rPr>
              <a:t>THE IDEA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04672"/>
            <a:ext cx="1097280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F172A"/>
                </a:solidFill>
                <a:latin typeface="Segoe UI Semibold"/>
              </a:rPr>
              <a:t>Cline With Engram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08176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64748B"/>
                </a:solidFill>
                <a:latin typeface="Segoe UI"/>
              </a:rPr>
              <a:t>One MCP endpoint gives every developer's Cline a long-term, shared memory.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1810512"/>
            <a:ext cx="548640" cy="0"/>
          </a:xfrm>
          <a:prstGeom prst="line">
            <a:avLst/>
          </a:prstGeom>
          <a:ln w="31750">
            <a:solidFill>
              <a:srgbClr val="2563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6711696"/>
            <a:ext cx="548640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Engram — shared memory for AI coding agents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6711696"/>
            <a:ext cx="539496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03  /  10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148840"/>
            <a:ext cx="3520440" cy="30175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40080" y="2148840"/>
            <a:ext cx="3520440" cy="6400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943100" y="2560320"/>
            <a:ext cx="914400" cy="9144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943100" y="283464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Segoe UI Semibold"/>
              </a:rPr>
              <a:t>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566160"/>
            <a:ext cx="3520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0F172A"/>
                </a:solidFill>
                <a:latin typeface="Segoe UI Semibold"/>
              </a:rPr>
              <a:t>Remember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114800"/>
            <a:ext cx="288036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250" b="0" i="0">
                <a:solidFill>
                  <a:srgbClr val="64748B"/>
                </a:solidFill>
                <a:latin typeface="Segoe UI"/>
              </a:rPr>
              <a:t>Architecture decisions, gotchas, and the reasoning behind them — kept across sessions, indefinitely.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34256" y="2148840"/>
            <a:ext cx="3520440" cy="30175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4334256" y="2148840"/>
            <a:ext cx="3520440" cy="64008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637276" y="2560320"/>
            <a:ext cx="914400" cy="914400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637276" y="283464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Segoe UI Semibold"/>
              </a:rPr>
              <a:t>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34256" y="3566160"/>
            <a:ext cx="3520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0F172A"/>
                </a:solidFill>
                <a:latin typeface="Segoe UI Semibold"/>
              </a:rPr>
              <a:t>Learn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54296" y="4114800"/>
            <a:ext cx="288036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250" b="0" i="0">
                <a:solidFill>
                  <a:srgbClr val="64748B"/>
                </a:solidFill>
                <a:latin typeface="Segoe UI"/>
              </a:rPr>
              <a:t>Every bug Cline fixes becomes a lesson. It recalls the lesson before it can repeat the mistake.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28432" y="2148840"/>
            <a:ext cx="3520440" cy="30175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028432" y="2148840"/>
            <a:ext cx="3520440" cy="6400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9331452" y="2560320"/>
            <a:ext cx="914400" cy="9144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331452" y="283464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Segoe UI Semibold"/>
              </a:rPr>
              <a:t>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28432" y="3566160"/>
            <a:ext cx="3520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0F172A"/>
                </a:solidFill>
                <a:latin typeface="Segoe UI Semibold"/>
              </a:rPr>
              <a:t>Share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48472" y="4114800"/>
            <a:ext cx="288036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250" b="0" i="0">
                <a:solidFill>
                  <a:srgbClr val="64748B"/>
                </a:solidFill>
                <a:latin typeface="Segoe UI"/>
              </a:rPr>
              <a:t>What one engineer's Cline discovers, every engineer's Cline knows — instantly, team-wide.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5440680"/>
            <a:ext cx="10908792" cy="868680"/>
          </a:xfrm>
          <a:prstGeom prst="roundRect">
            <a:avLst>
              <a:gd name="adj" fmla="val 4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2960" y="5559552"/>
            <a:ext cx="106070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2563EB"/>
                </a:solidFill>
                <a:latin typeface="Segoe UI Semibold"/>
              </a:rPr>
              <a:t>SAME AGENT, SAME EDITOR, SAME WORKFLOW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5833872"/>
            <a:ext cx="106070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0F172A"/>
                </a:solidFill>
                <a:latin typeface="Segoe UI"/>
              </a:rPr>
              <a:t>The only difference is continuity — every session compounds into a shared team asset instead of resetting to zero.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0" y="320040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64748B"/>
                </a:solidFill>
                <a:latin typeface="Segoe UI"/>
              </a:rPr>
              <a:t>Engram  ×  Cline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65760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384048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2563EB"/>
                </a:solidFill>
                <a:latin typeface="Segoe UI Semibold"/>
              </a:rPr>
              <a:t>USE CASE · RECURRING BUG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04672"/>
            <a:ext cx="1097280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F172A"/>
                </a:solidFill>
                <a:latin typeface="Segoe UI Semibold"/>
              </a:rPr>
              <a:t>One Fix, Remembered Forever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08176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64748B"/>
                </a:solidFill>
                <a:latin typeface="Segoe UI"/>
              </a:rPr>
              <a:t>A bug fixed once shouldn't cost the team twice.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1810512"/>
            <a:ext cx="548640" cy="0"/>
          </a:xfrm>
          <a:prstGeom prst="line">
            <a:avLst/>
          </a:prstGeom>
          <a:ln w="31750">
            <a:solidFill>
              <a:srgbClr val="2563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6711696"/>
            <a:ext cx="548640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Engram — shared memory for AI coding agents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6711696"/>
            <a:ext cx="539496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04  /  10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148840"/>
            <a:ext cx="5349240" cy="37033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40080" y="2148840"/>
            <a:ext cx="5349240" cy="64008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2404872"/>
            <a:ext cx="4800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DC2626"/>
                </a:solidFill>
                <a:latin typeface="Segoe UI Semibold"/>
              </a:rPr>
              <a:t>Cline today</a:t>
            </a:r>
          </a:p>
        </p:txBody>
      </p:sp>
      <p:sp>
        <p:nvSpPr>
          <p:cNvPr id="16" name="Oval 15"/>
          <p:cNvSpPr/>
          <p:nvPr/>
        </p:nvSpPr>
        <p:spPr>
          <a:xfrm>
            <a:off x="1005840" y="3063240"/>
            <a:ext cx="274320" cy="274320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310002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 dirty="0">
                <a:solidFill>
                  <a:srgbClr val="FFFFFF"/>
                </a:solidFill>
                <a:latin typeface="Segoe UI Semibold"/>
              </a:rPr>
              <a:t>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017520"/>
            <a:ext cx="42976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334155"/>
                </a:solidFill>
                <a:latin typeface="Segoe UI"/>
              </a:rPr>
              <a:t>A dev asks Cline for a refund endpoint. Cline doesn't know refunds must be idempotent — the gateway double-charges on retry.</a:t>
            </a:r>
          </a:p>
        </p:txBody>
      </p:sp>
      <p:sp>
        <p:nvSpPr>
          <p:cNvPr id="19" name="Oval 18"/>
          <p:cNvSpPr/>
          <p:nvPr/>
        </p:nvSpPr>
        <p:spPr>
          <a:xfrm>
            <a:off x="1005840" y="3904488"/>
            <a:ext cx="274320" cy="274320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05840" y="3941268"/>
            <a:ext cx="274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Segoe UI Semibold"/>
              </a:rPr>
              <a:t>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3858768"/>
            <a:ext cx="42976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334155"/>
                </a:solidFill>
                <a:latin typeface="Segoe UI"/>
              </a:rPr>
              <a:t>Clean-but-wrong code ships. An incident fires at 2 a.m.</a:t>
            </a:r>
          </a:p>
        </p:txBody>
      </p:sp>
      <p:sp>
        <p:nvSpPr>
          <p:cNvPr id="22" name="Oval 21"/>
          <p:cNvSpPr/>
          <p:nvPr/>
        </p:nvSpPr>
        <p:spPr>
          <a:xfrm>
            <a:off x="1005840" y="4745736"/>
            <a:ext cx="274320" cy="274320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05840" y="4782516"/>
            <a:ext cx="274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Segoe UI Semibold"/>
              </a:rPr>
              <a:t>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4700016"/>
            <a:ext cx="42976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334155"/>
                </a:solidFill>
                <a:latin typeface="Segoe UI"/>
              </a:rPr>
              <a:t>Months later another dev asks for a partial refund — and Cline makes the exact same mistake.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2148840"/>
            <a:ext cx="5349240" cy="37033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217920" y="2148840"/>
            <a:ext cx="5349240" cy="64008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37960" y="2404872"/>
            <a:ext cx="4800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59669"/>
                </a:solidFill>
                <a:latin typeface="Segoe UI Semibold"/>
              </a:rPr>
              <a:t>Cline + Engram</a:t>
            </a:r>
          </a:p>
        </p:txBody>
      </p:sp>
      <p:sp>
        <p:nvSpPr>
          <p:cNvPr id="28" name="Oval 27"/>
          <p:cNvSpPr/>
          <p:nvPr/>
        </p:nvSpPr>
        <p:spPr>
          <a:xfrm>
            <a:off x="6583680" y="3063240"/>
            <a:ext cx="274320" cy="274320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83680" y="3106897"/>
            <a:ext cx="274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 dirty="0">
                <a:solidFill>
                  <a:srgbClr val="FFFFFF"/>
                </a:solidFill>
                <a:latin typeface="Segoe UI Semibold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3017520"/>
            <a:ext cx="42976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334155"/>
                </a:solidFill>
                <a:latin typeface="Segoe UI"/>
              </a:rPr>
              <a:t>The night it's fixed, Cline saves the lesson to Engram: refund paths must be idempotent.</a:t>
            </a:r>
          </a:p>
        </p:txBody>
      </p:sp>
      <p:sp>
        <p:nvSpPr>
          <p:cNvPr id="31" name="Oval 30"/>
          <p:cNvSpPr/>
          <p:nvPr/>
        </p:nvSpPr>
        <p:spPr>
          <a:xfrm>
            <a:off x="6583680" y="3904488"/>
            <a:ext cx="274320" cy="274320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583680" y="3948145"/>
            <a:ext cx="274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Segoe UI Semibold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0" y="3858768"/>
            <a:ext cx="42976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334155"/>
                </a:solidFill>
                <a:latin typeface="Segoe UI"/>
              </a:rPr>
              <a:t>Months later, before writing a line, the next dev's Cline recalls it.</a:t>
            </a:r>
          </a:p>
        </p:txBody>
      </p:sp>
      <p:sp>
        <p:nvSpPr>
          <p:cNvPr id="34" name="Oval 33"/>
          <p:cNvSpPr/>
          <p:nvPr/>
        </p:nvSpPr>
        <p:spPr>
          <a:xfrm>
            <a:off x="6583680" y="4745736"/>
            <a:ext cx="274320" cy="274320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583680" y="4789393"/>
            <a:ext cx="274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Segoe UI Semibold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0880" y="4700016"/>
            <a:ext cx="42976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334155"/>
                </a:solidFill>
                <a:latin typeface="Segoe UI"/>
              </a:rPr>
              <a:t>It writes correct code on the first try. The incident never repeats.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6035040"/>
            <a:ext cx="10908792" cy="384048"/>
          </a:xfrm>
          <a:prstGeom prst="roundRect">
            <a:avLst>
              <a:gd name="adj" fmla="val 4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0080" y="6099048"/>
            <a:ext cx="1090879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i="0">
                <a:solidFill>
                  <a:srgbClr val="2563EB"/>
                </a:solidFill>
                <a:latin typeface="Segoe UI Semibold"/>
              </a:rPr>
              <a:t>One captured lesson immunizes every developer's Cline against the same class of bug.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0" y="320040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64748B"/>
                </a:solidFill>
                <a:latin typeface="Segoe UI"/>
              </a:rPr>
              <a:t>Engram  ×  Cline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65760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384048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2563EB"/>
                </a:solidFill>
                <a:latin typeface="Segoe UI Semibold"/>
              </a:rPr>
              <a:t>USE CASE · ONBOARDING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04672"/>
            <a:ext cx="1097280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F172A"/>
                </a:solidFill>
                <a:latin typeface="Segoe UI Semibold"/>
              </a:rPr>
              <a:t>Productive on Day 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08176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64748B"/>
                </a:solidFill>
                <a:latin typeface="Segoe UI"/>
              </a:rPr>
              <a:t>New hires start with the team's context, not a blank slate.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1810512"/>
            <a:ext cx="548640" cy="0"/>
          </a:xfrm>
          <a:prstGeom prst="line">
            <a:avLst/>
          </a:prstGeom>
          <a:ln w="31750">
            <a:solidFill>
              <a:srgbClr val="2563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6711696"/>
            <a:ext cx="548640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Engram — shared memory for AI coding agents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6711696"/>
            <a:ext cx="539496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05  /  10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148840"/>
            <a:ext cx="5349240" cy="37033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40080" y="2148840"/>
            <a:ext cx="5349240" cy="64008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2404872"/>
            <a:ext cx="4800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DC2626"/>
                </a:solidFill>
                <a:latin typeface="Segoe UI Semibold"/>
              </a:rPr>
              <a:t>Cline today</a:t>
            </a:r>
          </a:p>
        </p:txBody>
      </p:sp>
      <p:sp>
        <p:nvSpPr>
          <p:cNvPr id="16" name="Oval 15"/>
          <p:cNvSpPr/>
          <p:nvPr/>
        </p:nvSpPr>
        <p:spPr>
          <a:xfrm>
            <a:off x="1005840" y="3063240"/>
            <a:ext cx="274320" cy="274320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310002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 dirty="0">
                <a:solidFill>
                  <a:srgbClr val="FFFFFF"/>
                </a:solidFill>
                <a:latin typeface="Segoe UI Semibold"/>
              </a:rPr>
              <a:t>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017520"/>
            <a:ext cx="42976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334155"/>
                </a:solidFill>
                <a:latin typeface="Segoe UI"/>
              </a:rPr>
              <a:t>A new engineer spends two weeks pinging teammates: how do we deploy? what's the convention? why is this split this way?</a:t>
            </a:r>
          </a:p>
        </p:txBody>
      </p:sp>
      <p:sp>
        <p:nvSpPr>
          <p:cNvPr id="19" name="Oval 18"/>
          <p:cNvSpPr/>
          <p:nvPr/>
        </p:nvSpPr>
        <p:spPr>
          <a:xfrm>
            <a:off x="1005840" y="3904488"/>
            <a:ext cx="274320" cy="274320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05840" y="3941268"/>
            <a:ext cx="274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Segoe UI Semibold"/>
              </a:rPr>
              <a:t>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3858768"/>
            <a:ext cx="42976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334155"/>
                </a:solidFill>
                <a:latin typeface="Segoe UI"/>
              </a:rPr>
              <a:t>Cline can't help — it knows none of the team's history.</a:t>
            </a:r>
          </a:p>
        </p:txBody>
      </p:sp>
      <p:sp>
        <p:nvSpPr>
          <p:cNvPr id="22" name="Oval 21"/>
          <p:cNvSpPr/>
          <p:nvPr/>
        </p:nvSpPr>
        <p:spPr>
          <a:xfrm>
            <a:off x="1005840" y="4745736"/>
            <a:ext cx="274320" cy="274320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05840" y="4782516"/>
            <a:ext cx="274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Segoe UI Semibold"/>
              </a:rPr>
              <a:t>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4700016"/>
            <a:ext cx="42976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334155"/>
                </a:solidFill>
                <a:latin typeface="Segoe UI"/>
              </a:rPr>
              <a:t>Ramp-up burns senior engineers' time too, one interruption at a time.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2148840"/>
            <a:ext cx="5349240" cy="37033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217920" y="2148840"/>
            <a:ext cx="5349240" cy="64008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37960" y="2404872"/>
            <a:ext cx="4800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59669"/>
                </a:solidFill>
                <a:latin typeface="Segoe UI Semibold"/>
              </a:rPr>
              <a:t>Cline + Engram</a:t>
            </a:r>
          </a:p>
        </p:txBody>
      </p:sp>
      <p:sp>
        <p:nvSpPr>
          <p:cNvPr id="28" name="Oval 27"/>
          <p:cNvSpPr/>
          <p:nvPr/>
        </p:nvSpPr>
        <p:spPr>
          <a:xfrm>
            <a:off x="6583680" y="3063240"/>
            <a:ext cx="274320" cy="274320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83680" y="310002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Segoe UI Semibold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3017520"/>
            <a:ext cx="42976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334155"/>
                </a:solidFill>
                <a:latin typeface="Segoe UI"/>
              </a:rPr>
              <a:t>Their Cline recalls the team's runbooks, conventions, and architecture decisions instantly.</a:t>
            </a:r>
          </a:p>
        </p:txBody>
      </p:sp>
      <p:sp>
        <p:nvSpPr>
          <p:cNvPr id="31" name="Oval 30"/>
          <p:cNvSpPr/>
          <p:nvPr/>
        </p:nvSpPr>
        <p:spPr>
          <a:xfrm>
            <a:off x="6583680" y="3904488"/>
            <a:ext cx="274320" cy="274320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583680" y="3941268"/>
            <a:ext cx="274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Segoe UI Semibold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0" y="3858768"/>
            <a:ext cx="42976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334155"/>
                </a:solidFill>
                <a:latin typeface="Segoe UI"/>
              </a:rPr>
              <a:t>The new hire asks Cline what they'd have asked a senior — without interrupting anyone.</a:t>
            </a:r>
          </a:p>
        </p:txBody>
      </p:sp>
      <p:sp>
        <p:nvSpPr>
          <p:cNvPr id="34" name="Oval 33"/>
          <p:cNvSpPr/>
          <p:nvPr/>
        </p:nvSpPr>
        <p:spPr>
          <a:xfrm>
            <a:off x="6583680" y="4745736"/>
            <a:ext cx="274320" cy="274320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583680" y="4782516"/>
            <a:ext cx="274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Segoe UI Semibold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0880" y="4700016"/>
            <a:ext cx="42976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334155"/>
                </a:solidFill>
                <a:latin typeface="Segoe UI"/>
              </a:rPr>
              <a:t>They ship a real change in days, not weeks.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6035040"/>
            <a:ext cx="10908792" cy="384048"/>
          </a:xfrm>
          <a:prstGeom prst="roundRect">
            <a:avLst>
              <a:gd name="adj" fmla="val 4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0080" y="6099048"/>
            <a:ext cx="1090879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i="0">
                <a:solidFill>
                  <a:srgbClr val="2563EB"/>
                </a:solidFill>
                <a:latin typeface="Segoe UI Semibold"/>
              </a:rPr>
              <a:t>Onboarding context is recalled on demand, not re-explained by hand.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0" y="320040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64748B"/>
                </a:solidFill>
                <a:latin typeface="Segoe UI"/>
              </a:rPr>
              <a:t>Engram  ×  Cline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65760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384048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2563EB"/>
                </a:solidFill>
                <a:latin typeface="Segoe UI Semibold"/>
              </a:rPr>
              <a:t>USE CASE · KNOWLEDGE CONTINUITY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04672"/>
            <a:ext cx="1097280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F172A"/>
                </a:solidFill>
                <a:latin typeface="Segoe UI Semibold"/>
              </a:rPr>
              <a:t>Knowledge That Doesn't Walk 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08176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64748B"/>
                </a:solidFill>
                <a:latin typeface="Segoe UI"/>
              </a:rPr>
              <a:t>When someone leaves, their context stays with the team.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1810512"/>
            <a:ext cx="548640" cy="0"/>
          </a:xfrm>
          <a:prstGeom prst="line">
            <a:avLst/>
          </a:prstGeom>
          <a:ln w="31750">
            <a:solidFill>
              <a:srgbClr val="2563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6711696"/>
            <a:ext cx="548640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Engram — shared memory for AI coding agents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6711696"/>
            <a:ext cx="539496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06  /  10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148840"/>
            <a:ext cx="5349240" cy="37033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40080" y="2148840"/>
            <a:ext cx="5349240" cy="64008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2404872"/>
            <a:ext cx="4800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DC2626"/>
                </a:solidFill>
                <a:latin typeface="Segoe UI Semibold"/>
              </a:rPr>
              <a:t>Cline today</a:t>
            </a:r>
          </a:p>
        </p:txBody>
      </p:sp>
      <p:sp>
        <p:nvSpPr>
          <p:cNvPr id="16" name="Oval 15"/>
          <p:cNvSpPr/>
          <p:nvPr/>
        </p:nvSpPr>
        <p:spPr>
          <a:xfrm>
            <a:off x="1005840" y="3063240"/>
            <a:ext cx="274320" cy="274320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3120648"/>
            <a:ext cx="274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 dirty="0">
                <a:solidFill>
                  <a:srgbClr val="FFFFFF"/>
                </a:solidFill>
                <a:latin typeface="Segoe UI Semibold"/>
              </a:rPr>
              <a:t>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017520"/>
            <a:ext cx="42976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334155"/>
                </a:solidFill>
                <a:latin typeface="Segoe UI"/>
              </a:rPr>
              <a:t>The one engineer who understood the billing edge-cases gives notice.</a:t>
            </a:r>
          </a:p>
        </p:txBody>
      </p:sp>
      <p:sp>
        <p:nvSpPr>
          <p:cNvPr id="19" name="Oval 18"/>
          <p:cNvSpPr/>
          <p:nvPr/>
        </p:nvSpPr>
        <p:spPr>
          <a:xfrm>
            <a:off x="1005840" y="3904488"/>
            <a:ext cx="274320" cy="274320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05840" y="3961896"/>
            <a:ext cx="274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Segoe UI Semibold"/>
              </a:rPr>
              <a:t>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3858768"/>
            <a:ext cx="42976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334155"/>
                </a:solidFill>
                <a:latin typeface="Segoe UI"/>
              </a:rPr>
              <a:t>Their reasoning lived in their head and their private chats.</a:t>
            </a:r>
          </a:p>
        </p:txBody>
      </p:sp>
      <p:sp>
        <p:nvSpPr>
          <p:cNvPr id="22" name="Oval 21"/>
          <p:cNvSpPr/>
          <p:nvPr/>
        </p:nvSpPr>
        <p:spPr>
          <a:xfrm>
            <a:off x="1005840" y="4745736"/>
            <a:ext cx="274320" cy="274320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05840" y="4803144"/>
            <a:ext cx="274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Segoe UI Semibold"/>
              </a:rPr>
              <a:t>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4700016"/>
            <a:ext cx="42976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334155"/>
                </a:solidFill>
                <a:latin typeface="Segoe UI"/>
              </a:rPr>
              <a:t>Two weeks later it's gone — the team inherits the code but not the why.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2148840"/>
            <a:ext cx="5349240" cy="37033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217920" y="2148840"/>
            <a:ext cx="5349240" cy="64008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37960" y="2404872"/>
            <a:ext cx="4800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59669"/>
                </a:solidFill>
                <a:latin typeface="Segoe UI Semibold"/>
              </a:rPr>
              <a:t>Cline + Engram</a:t>
            </a:r>
          </a:p>
        </p:txBody>
      </p:sp>
      <p:sp>
        <p:nvSpPr>
          <p:cNvPr id="28" name="Oval 27"/>
          <p:cNvSpPr/>
          <p:nvPr/>
        </p:nvSpPr>
        <p:spPr>
          <a:xfrm>
            <a:off x="6583680" y="3063240"/>
            <a:ext cx="274320" cy="274320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83680" y="3120648"/>
            <a:ext cx="274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Segoe UI Semibold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3017520"/>
            <a:ext cx="42976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334155"/>
                </a:solidFill>
                <a:latin typeface="Segoe UI"/>
              </a:rPr>
              <a:t>Every decision and gotcha that engineer's Cline captured is already in the shared brain.</a:t>
            </a:r>
          </a:p>
        </p:txBody>
      </p:sp>
      <p:sp>
        <p:nvSpPr>
          <p:cNvPr id="31" name="Oval 30"/>
          <p:cNvSpPr/>
          <p:nvPr/>
        </p:nvSpPr>
        <p:spPr>
          <a:xfrm>
            <a:off x="6583680" y="3904488"/>
            <a:ext cx="274320" cy="274320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583680" y="3961896"/>
            <a:ext cx="274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Segoe UI Semibold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0" y="3858768"/>
            <a:ext cx="42976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334155"/>
                </a:solidFill>
                <a:latin typeface="Segoe UI"/>
              </a:rPr>
              <a:t>After they leave, the team's Cline still recalls why the edge-cases work the way they do.</a:t>
            </a:r>
          </a:p>
        </p:txBody>
      </p:sp>
      <p:sp>
        <p:nvSpPr>
          <p:cNvPr id="34" name="Oval 33"/>
          <p:cNvSpPr/>
          <p:nvPr/>
        </p:nvSpPr>
        <p:spPr>
          <a:xfrm>
            <a:off x="6583680" y="4745736"/>
            <a:ext cx="274320" cy="274320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583680" y="4803144"/>
            <a:ext cx="274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Segoe UI Semibold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0880" y="4700016"/>
            <a:ext cx="42976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334155"/>
                </a:solidFill>
                <a:latin typeface="Segoe UI"/>
              </a:rPr>
              <a:t>The bus factor stops being a single point of failure.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6035040"/>
            <a:ext cx="10908792" cy="384048"/>
          </a:xfrm>
          <a:prstGeom prst="roundRect">
            <a:avLst>
              <a:gd name="adj" fmla="val 4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0080" y="6099048"/>
            <a:ext cx="1090879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i="0">
                <a:solidFill>
                  <a:srgbClr val="2563EB"/>
                </a:solidFill>
                <a:latin typeface="Segoe UI Semibold"/>
              </a:rPr>
              <a:t>The shared brain outlives any single contributor.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0" y="320040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64748B"/>
                </a:solidFill>
                <a:latin typeface="Segoe UI"/>
              </a:rPr>
              <a:t>Engram  ×  Cline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65760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384048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2563EB"/>
                </a:solidFill>
                <a:latin typeface="Segoe UI Semibold"/>
              </a:rPr>
              <a:t>USE CASE · ASYNC HANDOFF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04672"/>
            <a:ext cx="1097280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F172A"/>
                </a:solidFill>
                <a:latin typeface="Segoe UI Semibold"/>
              </a:rPr>
              <a:t>One Continuous Brain, Across the Clock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08176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64748B"/>
                </a:solidFill>
                <a:latin typeface="Segoe UI"/>
              </a:rPr>
              <a:t>Work handed off between timezones doesn't start cold.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1810512"/>
            <a:ext cx="548640" cy="0"/>
          </a:xfrm>
          <a:prstGeom prst="line">
            <a:avLst/>
          </a:prstGeom>
          <a:ln w="31750">
            <a:solidFill>
              <a:srgbClr val="2563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6711696"/>
            <a:ext cx="548640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Engram — shared memory for AI coding agents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6711696"/>
            <a:ext cx="539496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07  /  10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148840"/>
            <a:ext cx="5349240" cy="37033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40080" y="2148840"/>
            <a:ext cx="5349240" cy="64008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2404872"/>
            <a:ext cx="4800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DC2626"/>
                </a:solidFill>
                <a:latin typeface="Segoe UI Semibold"/>
              </a:rPr>
              <a:t>Cline today</a:t>
            </a:r>
          </a:p>
        </p:txBody>
      </p:sp>
      <p:sp>
        <p:nvSpPr>
          <p:cNvPr id="16" name="Oval 15"/>
          <p:cNvSpPr/>
          <p:nvPr/>
        </p:nvSpPr>
        <p:spPr>
          <a:xfrm>
            <a:off x="1005840" y="3063240"/>
            <a:ext cx="274320" cy="274320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310002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 dirty="0">
                <a:solidFill>
                  <a:srgbClr val="FFFFFF"/>
                </a:solidFill>
                <a:latin typeface="Segoe UI Semibold"/>
              </a:rPr>
              <a:t>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017520"/>
            <a:ext cx="42976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334155"/>
                </a:solidFill>
                <a:latin typeface="Segoe UI"/>
              </a:rPr>
              <a:t>A dev in IST ends the day mid-decision on a tricky migration.</a:t>
            </a:r>
          </a:p>
        </p:txBody>
      </p:sp>
      <p:sp>
        <p:nvSpPr>
          <p:cNvPr id="19" name="Oval 18"/>
          <p:cNvSpPr/>
          <p:nvPr/>
        </p:nvSpPr>
        <p:spPr>
          <a:xfrm>
            <a:off x="1005840" y="3904488"/>
            <a:ext cx="274320" cy="274320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05840" y="3941268"/>
            <a:ext cx="274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Segoe UI Semibold"/>
              </a:rPr>
              <a:t>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3858768"/>
            <a:ext cx="42976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334155"/>
                </a:solidFill>
                <a:latin typeface="Segoe UI"/>
              </a:rPr>
              <a:t>A teammate in EST picks it up hours later and re-derives the context from scratch.</a:t>
            </a:r>
          </a:p>
        </p:txBody>
      </p:sp>
      <p:sp>
        <p:nvSpPr>
          <p:cNvPr id="22" name="Oval 21"/>
          <p:cNvSpPr/>
          <p:nvPr/>
        </p:nvSpPr>
        <p:spPr>
          <a:xfrm>
            <a:off x="1005840" y="4745736"/>
            <a:ext cx="274320" cy="274320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05840" y="4782516"/>
            <a:ext cx="274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Segoe UI Semibold"/>
              </a:rPr>
              <a:t>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4700016"/>
            <a:ext cx="42976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334155"/>
                </a:solidFill>
                <a:latin typeface="Segoe UI"/>
              </a:rPr>
              <a:t>Sometimes they choose a different path that later has to be reconciled.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2148840"/>
            <a:ext cx="5349240" cy="37033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217920" y="2148840"/>
            <a:ext cx="5349240" cy="64008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37960" y="2404872"/>
            <a:ext cx="4800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59669"/>
                </a:solidFill>
                <a:latin typeface="Segoe UI Semibold"/>
              </a:rPr>
              <a:t>Cline + Engram</a:t>
            </a:r>
          </a:p>
        </p:txBody>
      </p:sp>
      <p:sp>
        <p:nvSpPr>
          <p:cNvPr id="28" name="Oval 27"/>
          <p:cNvSpPr/>
          <p:nvPr/>
        </p:nvSpPr>
        <p:spPr>
          <a:xfrm>
            <a:off x="6583680" y="3063240"/>
            <a:ext cx="274320" cy="274320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83680" y="310002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Segoe UI Semibold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3017520"/>
            <a:ext cx="42976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334155"/>
                </a:solidFill>
                <a:latin typeface="Segoe UI"/>
              </a:rPr>
              <a:t>The first dev's decisions and half-finished reasoning are saved to Engram.</a:t>
            </a:r>
          </a:p>
        </p:txBody>
      </p:sp>
      <p:sp>
        <p:nvSpPr>
          <p:cNvPr id="31" name="Oval 30"/>
          <p:cNvSpPr/>
          <p:nvPr/>
        </p:nvSpPr>
        <p:spPr>
          <a:xfrm>
            <a:off x="6583680" y="3904488"/>
            <a:ext cx="274320" cy="274320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583680" y="3941268"/>
            <a:ext cx="274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Segoe UI Semibold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0" y="3858768"/>
            <a:ext cx="42976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334155"/>
                </a:solidFill>
                <a:latin typeface="Segoe UI"/>
              </a:rPr>
              <a:t>The second dev's Cline recalls exactly where things stood and continues.</a:t>
            </a:r>
          </a:p>
        </p:txBody>
      </p:sp>
      <p:sp>
        <p:nvSpPr>
          <p:cNvPr id="34" name="Oval 33"/>
          <p:cNvSpPr/>
          <p:nvPr/>
        </p:nvSpPr>
        <p:spPr>
          <a:xfrm>
            <a:off x="6583680" y="4745736"/>
            <a:ext cx="274320" cy="274320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583680" y="4782516"/>
            <a:ext cx="274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Segoe UI Semibold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0880" y="4700016"/>
            <a:ext cx="42976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334155"/>
                </a:solidFill>
                <a:latin typeface="Segoe UI"/>
              </a:rPr>
              <a:t>No cold start, no conflicting rework — the handoff is seamless.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6035040"/>
            <a:ext cx="10908792" cy="384048"/>
          </a:xfrm>
          <a:prstGeom prst="roundRect">
            <a:avLst>
              <a:gd name="adj" fmla="val 4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0080" y="6099048"/>
            <a:ext cx="1090879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i="0">
                <a:solidFill>
                  <a:srgbClr val="2563EB"/>
                </a:solidFill>
                <a:latin typeface="Segoe UI Semibold"/>
              </a:rPr>
              <a:t>The team works as one continuous brain, around the clock.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0" y="320040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64748B"/>
                </a:solidFill>
                <a:latin typeface="Segoe UI"/>
              </a:rPr>
              <a:t>Engram  ×  Cline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65760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384048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2563EB"/>
                </a:solidFill>
                <a:latin typeface="Segoe UI Semibold"/>
              </a:rPr>
              <a:t>TEAM 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04672"/>
            <a:ext cx="1097280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F172A"/>
                </a:solidFill>
                <a:latin typeface="Segoe UI Semibold"/>
              </a:rPr>
              <a:t>See Where the Team's Effort Is Going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08176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64748B"/>
                </a:solidFill>
                <a:latin typeface="Segoe UI"/>
              </a:rPr>
              <a:t>A live map of what the team's agents are working on — for planning, not monitoring.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1810512"/>
            <a:ext cx="548640" cy="0"/>
          </a:xfrm>
          <a:prstGeom prst="line">
            <a:avLst/>
          </a:prstGeom>
          <a:ln w="31750">
            <a:solidFill>
              <a:srgbClr val="2563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6711696"/>
            <a:ext cx="548640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Engram — shared memory for AI coding agents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6711696"/>
            <a:ext cx="539496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08  /  10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148840"/>
            <a:ext cx="5486400" cy="36118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40080" y="2148840"/>
            <a:ext cx="5486400" cy="6400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2423160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F172A"/>
                </a:solidFill>
                <a:latin typeface="Segoe UI Semibold"/>
              </a:rPr>
              <a:t>Focus areas this sprint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017520"/>
            <a:ext cx="47548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334155"/>
                </a:solidFill>
                <a:latin typeface="Segoe UI"/>
              </a:rPr>
              <a:t>payments service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" y="3273552"/>
            <a:ext cx="4754880" cy="146304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05840" y="3273552"/>
            <a:ext cx="4374489" cy="14630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05840" y="3547872"/>
            <a:ext cx="47548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334155"/>
                </a:solidFill>
                <a:latin typeface="Segoe UI"/>
              </a:rPr>
              <a:t>onboarding / docs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5840" y="3803904"/>
            <a:ext cx="4754880" cy="146304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05840" y="3803904"/>
            <a:ext cx="3043123" cy="146304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05840" y="4078224"/>
            <a:ext cx="47548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334155"/>
                </a:solidFill>
                <a:latin typeface="Segoe UI"/>
              </a:rPr>
              <a:t>billing edge-cases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05840" y="4334256"/>
            <a:ext cx="4754880" cy="146304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005840" y="4334256"/>
            <a:ext cx="2282342" cy="146304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05840" y="4608576"/>
            <a:ext cx="47548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334155"/>
                </a:solidFill>
                <a:latin typeface="Segoe UI"/>
              </a:rPr>
              <a:t>infra &amp; deploy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5840" y="4864608"/>
            <a:ext cx="4754880" cy="146304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1005840" y="4864608"/>
            <a:ext cx="1569110" cy="146304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05840" y="5138928"/>
            <a:ext cx="47548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334155"/>
                </a:solidFill>
                <a:latin typeface="Segoe UI"/>
              </a:rPr>
              <a:t>internal tooling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05840" y="5394960"/>
            <a:ext cx="4754880" cy="146304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1005840" y="5394960"/>
            <a:ext cx="950976" cy="146304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6309360" y="2148840"/>
            <a:ext cx="5239512" cy="36118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6309360" y="2148840"/>
            <a:ext cx="5239512" cy="6400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675120" y="2423160"/>
            <a:ext cx="450799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F172A"/>
                </a:solidFill>
                <a:latin typeface="Segoe UI Semibold"/>
              </a:rPr>
              <a:t>Recent decisions captured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675120" y="3017520"/>
            <a:ext cx="1234440" cy="310896"/>
          </a:xfrm>
          <a:prstGeom prst="roundRect">
            <a:avLst>
              <a:gd name="adj" fmla="val 3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675120" y="3063240"/>
            <a:ext cx="123444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i="0">
                <a:solidFill>
                  <a:srgbClr val="2563EB"/>
                </a:solidFill>
                <a:latin typeface="Segoe UI Semibold"/>
              </a:rPr>
              <a:t>payments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46720" y="3035808"/>
            <a:ext cx="313639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334155"/>
                </a:solidFill>
                <a:latin typeface="Segoe UI"/>
              </a:rPr>
              <a:t>Refund paths must key on refund_request_id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675120" y="3547872"/>
            <a:ext cx="1234440" cy="310896"/>
          </a:xfrm>
          <a:prstGeom prst="roundRect">
            <a:avLst>
              <a:gd name="adj" fmla="val 3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675120" y="3593592"/>
            <a:ext cx="123444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i="0">
                <a:solidFill>
                  <a:srgbClr val="2563EB"/>
                </a:solidFill>
                <a:latin typeface="Segoe UI Semibold"/>
              </a:rPr>
              <a:t>infra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46720" y="3566160"/>
            <a:ext cx="313639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334155"/>
                </a:solidFill>
                <a:latin typeface="Segoe UI"/>
              </a:rPr>
              <a:t>Deploy v2 rollout runbook documented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675120" y="4078224"/>
            <a:ext cx="1234440" cy="310896"/>
          </a:xfrm>
          <a:prstGeom prst="roundRect">
            <a:avLst>
              <a:gd name="adj" fmla="val 3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675120" y="4123944"/>
            <a:ext cx="123444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i="0">
                <a:solidFill>
                  <a:srgbClr val="2563EB"/>
                </a:solidFill>
                <a:latin typeface="Segoe UI Semibold"/>
              </a:rPr>
              <a:t>billing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46720" y="4096512"/>
            <a:ext cx="313639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334155"/>
                </a:solidFill>
                <a:latin typeface="Segoe UI"/>
              </a:rPr>
              <a:t>Proration rounds half-up, not half-even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675120" y="4608576"/>
            <a:ext cx="1234440" cy="310896"/>
          </a:xfrm>
          <a:prstGeom prst="roundRect">
            <a:avLst>
              <a:gd name="adj" fmla="val 3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675120" y="4654296"/>
            <a:ext cx="123444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i="0">
                <a:solidFill>
                  <a:srgbClr val="2563EB"/>
                </a:solidFill>
                <a:latin typeface="Segoe UI Semibold"/>
              </a:rPr>
              <a:t>onboarding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46720" y="4626864"/>
            <a:ext cx="313639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334155"/>
                </a:solidFill>
                <a:latin typeface="Segoe UI"/>
              </a:rPr>
              <a:t>Service split rationale written down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675120" y="5138928"/>
            <a:ext cx="1234440" cy="310896"/>
          </a:xfrm>
          <a:prstGeom prst="roundRect">
            <a:avLst>
              <a:gd name="adj" fmla="val 3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675120" y="5184648"/>
            <a:ext cx="123444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i="0">
                <a:solidFill>
                  <a:srgbClr val="2563EB"/>
                </a:solidFill>
                <a:latin typeface="Segoe UI Semibold"/>
              </a:rPr>
              <a:t>tooling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46720" y="5157216"/>
            <a:ext cx="313639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334155"/>
                </a:solidFill>
                <a:latin typeface="Segoe UI"/>
              </a:rPr>
              <a:t>Local stack now one make command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40080" y="5943600"/>
            <a:ext cx="10908792" cy="384048"/>
          </a:xfrm>
          <a:prstGeom prst="roundRect">
            <a:avLst>
              <a:gd name="adj" fmla="val 4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40080" y="6007608"/>
            <a:ext cx="1090879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2563EB"/>
                </a:solidFill>
                <a:latin typeface="Segoe UI Semibold"/>
              </a:rPr>
              <a:t>Visibility into work and decisions — for standups and planning, not keystrokes or individuals.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0" y="320040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64748B"/>
                </a:solidFill>
                <a:latin typeface="Segoe UI"/>
              </a:rPr>
              <a:t>Engram  ×  Cline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65760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384048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2563EB"/>
                </a:solidFill>
                <a:latin typeface="Segoe UI Semibold"/>
              </a:rPr>
              <a:t>TOKEN COST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04672"/>
            <a:ext cx="1097280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F172A"/>
                </a:solidFill>
                <a:latin typeface="Segoe UI Semibold"/>
              </a:rPr>
              <a:t>Recall Costs Less Than Re-Reading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08176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64748B"/>
                </a:solidFill>
                <a:latin typeface="Segoe UI"/>
              </a:rPr>
              <a:t>Cline recalls a small, distilled memory instead of re-ingesting full context every session.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1810512"/>
            <a:ext cx="548640" cy="0"/>
          </a:xfrm>
          <a:prstGeom prst="line">
            <a:avLst/>
          </a:prstGeom>
          <a:ln w="31750">
            <a:solidFill>
              <a:srgbClr val="2563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6711696"/>
            <a:ext cx="548640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Engram — shared memory for AI coding agents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6711696"/>
            <a:ext cx="539496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09  /  10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148840"/>
            <a:ext cx="5943600" cy="841248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40080" y="2148840"/>
            <a:ext cx="54864" cy="84124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2267712"/>
            <a:ext cx="53949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F172A"/>
                </a:solidFill>
                <a:latin typeface="Segoe UI Semibold"/>
              </a:rPr>
              <a:t>No re-ingesting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2569464"/>
            <a:ext cx="539496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4748B"/>
                </a:solidFill>
                <a:latin typeface="Segoe UI"/>
              </a:rPr>
              <a:t>Today Cline re-reads files, docs, and past chat each session. Engram returns just the relevant memory.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127248"/>
            <a:ext cx="5943600" cy="841248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40080" y="3127248"/>
            <a:ext cx="54864" cy="841248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0120" y="3246120"/>
            <a:ext cx="53949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F172A"/>
                </a:solidFill>
                <a:latin typeface="Segoe UI Semibold"/>
              </a:rPr>
              <a:t>Distilled, not raw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3547872"/>
            <a:ext cx="539496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4748B"/>
                </a:solidFill>
                <a:latin typeface="Segoe UI"/>
              </a:rPr>
              <a:t>Consolidation compresses sprawling history into small durable notes — recall pulls a few lessons, not whole transcripts.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105656"/>
            <a:ext cx="5943600" cy="841248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40080" y="4105656"/>
            <a:ext cx="54864" cy="84124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0120" y="4224528"/>
            <a:ext cx="53949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F172A"/>
                </a:solidFill>
                <a:latin typeface="Segoe UI Semibold"/>
              </a:rPr>
              <a:t>Fewer wasted turns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4526280"/>
            <a:ext cx="539496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4748B"/>
                </a:solidFill>
                <a:latin typeface="Segoe UI"/>
              </a:rPr>
              <a:t>No re-asking settled questions or re-deriving the same conclusions — each avoided turn is tokens saved.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084064"/>
            <a:ext cx="5943600" cy="841248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40080" y="5084064"/>
            <a:ext cx="54864" cy="841248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60120" y="5202936"/>
            <a:ext cx="53949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F172A"/>
                </a:solidFill>
                <a:latin typeface="Segoe UI Semibold"/>
              </a:rPr>
              <a:t>Less repeated rework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5504688"/>
            <a:ext cx="539496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4748B"/>
                </a:solidFill>
                <a:latin typeface="Segoe UI"/>
              </a:rPr>
              <a:t>Bugs that aren't repeated mean fewer long, expensive debugging sessions in the first place.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0" y="2148840"/>
            <a:ext cx="4690872" cy="4114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6858000" y="2148840"/>
            <a:ext cx="4690872" cy="64008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223760" y="2404872"/>
            <a:ext cx="395935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F172A"/>
                </a:solidFill>
                <a:latin typeface="Segoe UI Semibold"/>
              </a:rPr>
              <a:t>Tokens per session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60" y="2715768"/>
            <a:ext cx="395935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1">
                <a:solidFill>
                  <a:srgbClr val="94A3B8"/>
                </a:solidFill>
                <a:latin typeface="Segoe UI"/>
              </a:rPr>
              <a:t>illustrative — not a benchmark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635240" y="3291840"/>
            <a:ext cx="1371600" cy="2468880"/>
          </a:xfrm>
          <a:prstGeom prst="roundRect">
            <a:avLst>
              <a:gd name="adj" fmla="val 4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7635240" y="3291840"/>
            <a:ext cx="1371600" cy="2468880"/>
          </a:xfrm>
          <a:prstGeom prst="roundRect">
            <a:avLst>
              <a:gd name="adj" fmla="val 4000"/>
            </a:avLst>
          </a:prstGeom>
          <a:noFill/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635240" y="3017520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DC2626"/>
                </a:solidFill>
                <a:latin typeface="Segoe UI Semibold"/>
              </a:rPr>
              <a:t>re-ingest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35240" y="5815584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Without Engram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372600" y="4892040"/>
            <a:ext cx="1371600" cy="868680"/>
          </a:xfrm>
          <a:prstGeom prst="roundRect">
            <a:avLst>
              <a:gd name="adj" fmla="val 6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9372600" y="4572000"/>
            <a:ext cx="1371600" cy="320040"/>
          </a:xfrm>
          <a:prstGeom prst="roundRect">
            <a:avLst>
              <a:gd name="adj" fmla="val 6000"/>
            </a:avLst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372600" y="4297680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0891B2"/>
                </a:solidFill>
                <a:latin typeface="Segoe UI Semibold"/>
              </a:rPr>
              <a:t>+ recall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72600" y="5815584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With Engram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223760" y="5760720"/>
            <a:ext cx="3959352" cy="0"/>
          </a:xfrm>
          <a:prstGeom prst="line">
            <a:avLst/>
          </a:prstGeom>
          <a:ln w="12700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7340639" y="6012180"/>
            <a:ext cx="39593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1" dirty="0">
                <a:solidFill>
                  <a:srgbClr val="64748B"/>
                </a:solidFill>
                <a:latin typeface="Segoe UI"/>
              </a:rPr>
              <a:t>Recall adds a little; targeted recall ≪ broad re-ingestion.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0" y="320040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64748B"/>
                </a:solidFill>
                <a:latin typeface="Segoe UI"/>
              </a:rPr>
              <a:t>Engram  ×  Cline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65760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384048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2563EB"/>
                </a:solidFill>
                <a:latin typeface="Segoe UI Semibold"/>
              </a:rPr>
              <a:t>HOW IT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04672"/>
            <a:ext cx="1097280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F172A"/>
                </a:solidFill>
                <a:latin typeface="Segoe UI Semibold"/>
              </a:rPr>
              <a:t>One Shared Brain Behind Every Cline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08176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64748B"/>
                </a:solidFill>
                <a:latin typeface="Segoe UI"/>
              </a:rPr>
              <a:t>Engram sits beside Cline as an MCP server — recall before answering, save after working.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1810512"/>
            <a:ext cx="548640" cy="0"/>
          </a:xfrm>
          <a:prstGeom prst="line">
            <a:avLst/>
          </a:prstGeom>
          <a:ln w="31750">
            <a:solidFill>
              <a:srgbClr val="2563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6711696"/>
            <a:ext cx="548640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Engram — shared memory for AI coding agents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6711696"/>
            <a:ext cx="539496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10  /  10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798167" y="2057400"/>
            <a:ext cx="2468880" cy="82296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798167" y="2176272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Segoe UI Semibold"/>
              </a:rPr>
              <a:t>VS Code  ·  Cline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98167" y="2496312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CBD5E1"/>
                </a:solidFill>
                <a:latin typeface="Segoe UI"/>
              </a:rPr>
              <a:t>Developer 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61407" y="2057400"/>
            <a:ext cx="2468880" cy="82296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861407" y="2176272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Segoe UI Semibold"/>
              </a:rPr>
              <a:t>VS Code  ·  Cline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61407" y="2496312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CBD5E1"/>
                </a:solidFill>
                <a:latin typeface="Segoe UI"/>
              </a:rPr>
              <a:t>Developer 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4647" y="2057400"/>
            <a:ext cx="2468880" cy="82296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924647" y="2176272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Segoe UI Semibold"/>
              </a:rPr>
              <a:t>VS Code  ·  Cline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24647" y="2496312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CBD5E1"/>
                </a:solidFill>
                <a:latin typeface="Segoe UI"/>
              </a:rPr>
              <a:t>Developer 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523847" y="3611880"/>
            <a:ext cx="9144000" cy="1371600"/>
          </a:xfrm>
          <a:prstGeom prst="roundRect">
            <a:avLst>
              <a:gd name="adj" fmla="val 4000"/>
            </a:avLst>
          </a:prstGeom>
          <a:solidFill>
            <a:srgbClr val="EFF6FF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523847" y="3758184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2563EB"/>
                </a:solidFill>
                <a:latin typeface="Segoe UI Semibold"/>
              </a:rPr>
              <a:t>ENGRAM SERVER  ·  one shared brain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661007" y="4160520"/>
            <a:ext cx="2865120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706727" y="4251960"/>
            <a:ext cx="2773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 i="0">
                <a:solidFill>
                  <a:srgbClr val="0F172A"/>
                </a:solidFill>
                <a:latin typeface="Segoe UI Semibold"/>
              </a:rPr>
              <a:t>Recall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06727" y="4544568"/>
            <a:ext cx="2773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1">
                <a:solidFill>
                  <a:srgbClr val="64748B"/>
                </a:solidFill>
                <a:latin typeface="Segoe UI"/>
              </a:rPr>
              <a:t>relevant memory before answering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663287" y="4160520"/>
            <a:ext cx="2865120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709007" y="4251960"/>
            <a:ext cx="2773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 i="0">
                <a:solidFill>
                  <a:srgbClr val="0F172A"/>
                </a:solidFill>
                <a:latin typeface="Segoe UI Semibold"/>
              </a:rPr>
              <a:t>Save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9007" y="4544568"/>
            <a:ext cx="2773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1">
                <a:solidFill>
                  <a:srgbClr val="64748B"/>
                </a:solidFill>
                <a:latin typeface="Segoe UI"/>
              </a:rPr>
              <a:t>decisions &amp; lessons after working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665567" y="4160520"/>
            <a:ext cx="2865120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711287" y="4251960"/>
            <a:ext cx="2773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 i="0">
                <a:solidFill>
                  <a:srgbClr val="0F172A"/>
                </a:solidFill>
                <a:latin typeface="Segoe UI Semibold"/>
              </a:rPr>
              <a:t>Project scope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11287" y="4544568"/>
            <a:ext cx="2773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1">
                <a:solidFill>
                  <a:srgbClr val="64748B"/>
                </a:solidFill>
                <a:latin typeface="Segoe UI"/>
              </a:rPr>
              <a:t>each service's memory stays clean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032607" y="2880360"/>
            <a:ext cx="0" cy="731520"/>
          </a:xfrm>
          <a:prstGeom prst="bentConnector3">
            <a:avLst/>
          </a:prstGeom>
          <a:ln w="19050">
            <a:solidFill>
              <a:srgbClr val="CBD5E1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095847" y="2880360"/>
            <a:ext cx="0" cy="731520"/>
          </a:xfrm>
          <a:prstGeom prst="bentConnector3">
            <a:avLst/>
          </a:prstGeom>
          <a:ln w="19050">
            <a:solidFill>
              <a:srgbClr val="CBD5E1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159087" y="2880360"/>
            <a:ext cx="0" cy="731520"/>
          </a:xfrm>
          <a:prstGeom prst="bentConnector3">
            <a:avLst/>
          </a:prstGeom>
          <a:ln w="19050">
            <a:solidFill>
              <a:srgbClr val="CBD5E1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3352647" y="5440680"/>
            <a:ext cx="5486400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3352647" y="5440680"/>
            <a:ext cx="64008" cy="566928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581247" y="5586984"/>
            <a:ext cx="5120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0F172A"/>
                </a:solidFill>
                <a:latin typeface="Segoe UI Semibold"/>
              </a:rPr>
              <a:t>⬢  Persistent store · durable · survives restarts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095847" y="4983480"/>
            <a:ext cx="0" cy="457200"/>
          </a:xfrm>
          <a:prstGeom prst="bentConnector3">
            <a:avLst/>
          </a:prstGeom>
          <a:ln w="19050">
            <a:solidFill>
              <a:srgbClr val="CBD5E1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640080" y="6263640"/>
            <a:ext cx="10908792" cy="384048"/>
          </a:xfrm>
          <a:prstGeom prst="roundRect">
            <a:avLst>
              <a:gd name="adj" fmla="val 4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40080" y="6327648"/>
            <a:ext cx="1090879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i="0">
                <a:solidFill>
                  <a:srgbClr val="2563EB"/>
                </a:solidFill>
                <a:latin typeface="Segoe UI Semibold"/>
              </a:rPr>
              <a:t>Keep Cline exactly as your team uses it — and give it a shared memory, so the team's knowledge compounds.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1227</Words>
  <Application>Microsoft Office PowerPoint</Application>
  <PresentationFormat>Widescreen</PresentationFormat>
  <Paragraphs>194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Segoe UI</vt:lpstr>
      <vt:lpstr>Segoe UI Light</vt:lpstr>
      <vt:lpstr>Segoe UI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Shivanand Vishwakarma</cp:lastModifiedBy>
  <cp:revision>2</cp:revision>
  <dcterms:created xsi:type="dcterms:W3CDTF">2013-01-27T09:14:16Z</dcterms:created>
  <dcterms:modified xsi:type="dcterms:W3CDTF">2026-06-07T18:02:34Z</dcterms:modified>
  <cp:category/>
</cp:coreProperties>
</file>