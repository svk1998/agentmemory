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3816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3816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3816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6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392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0392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0392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6968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6968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6968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6968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6968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6968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3544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3544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23544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3544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23544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3544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0120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0120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0120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60120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60120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60120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96696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96696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96696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6696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96696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96696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3272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3272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3272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3272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3272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3272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69848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69848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69848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69848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69848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69848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06424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06424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06424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06424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06424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06424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43000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43000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43000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43000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43000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143000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179576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179576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79576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79576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79576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79576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40080" y="1783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181965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MANAGEMENT BRIEFING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24231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0" i="0">
                <a:solidFill>
                  <a:srgbClr val="0F172A"/>
                </a:solidFill>
                <a:latin typeface="Segoe UI Light"/>
              </a:rPr>
              <a:t>Engram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" y="3794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2563EB"/>
                </a:solidFill>
                <a:latin typeface="Segoe UI Semibold"/>
              </a:rPr>
              <a:t>memory for Cline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" y="4526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1">
                <a:solidFill>
                  <a:srgbClr val="334155"/>
                </a:solidFill>
                <a:latin typeface="Segoe UI"/>
              </a:rPr>
              <a:t>Cline, but it never forgets.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8368" y="521208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8368" y="5440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4748B"/>
                </a:solidFill>
                <a:latin typeface="Segoe UI"/>
              </a:rPr>
              <a:t>Turn every developer's AI agent into one shared, compounding knowledge asset.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Persistent · Project-scoped · Team-shared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0" y="651052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Powered by agentmemory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Where Cline Is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Cline is brilliant in the moment — and amnesiac across time.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persistent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02  / 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40280"/>
            <a:ext cx="5349240" cy="4160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5349240" cy="640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4688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59669"/>
                </a:solidFill>
                <a:latin typeface="Segoe UI Semibold"/>
              </a:rPr>
              <a:t>Monday  ·  Cline learns it all</a:t>
            </a:r>
          </a:p>
        </p:txBody>
      </p:sp>
      <p:sp>
        <p:nvSpPr>
          <p:cNvPr id="16" name="Oval 15"/>
          <p:cNvSpPr/>
          <p:nvPr/>
        </p:nvSpPr>
        <p:spPr>
          <a:xfrm>
            <a:off x="996696" y="3035808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2999232"/>
            <a:ext cx="292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081528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Designed the refund flow with the team</a:t>
            </a:r>
          </a:p>
        </p:txBody>
      </p:sp>
      <p:sp>
        <p:nvSpPr>
          <p:cNvPr id="19" name="Oval 18"/>
          <p:cNvSpPr/>
          <p:nvPr/>
        </p:nvSpPr>
        <p:spPr>
          <a:xfrm>
            <a:off x="996696" y="3657600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3621024"/>
            <a:ext cx="292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703320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Learned refunds must be idempotent</a:t>
            </a:r>
          </a:p>
        </p:txBody>
      </p:sp>
      <p:sp>
        <p:nvSpPr>
          <p:cNvPr id="22" name="Oval 21"/>
          <p:cNvSpPr/>
          <p:nvPr/>
        </p:nvSpPr>
        <p:spPr>
          <a:xfrm>
            <a:off x="996696" y="4279392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" y="4242816"/>
            <a:ext cx="292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325112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Fixed the gateway double-charge bug</a:t>
            </a:r>
          </a:p>
        </p:txBody>
      </p:sp>
      <p:sp>
        <p:nvSpPr>
          <p:cNvPr id="25" name="Oval 24"/>
          <p:cNvSpPr/>
          <p:nvPr/>
        </p:nvSpPr>
        <p:spPr>
          <a:xfrm>
            <a:off x="996696" y="4901184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" y="4864608"/>
            <a:ext cx="292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946904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Agreed on the service's naming conventions</a:t>
            </a:r>
          </a:p>
        </p:txBody>
      </p:sp>
      <p:sp>
        <p:nvSpPr>
          <p:cNvPr id="28" name="Oval 27"/>
          <p:cNvSpPr/>
          <p:nvPr/>
        </p:nvSpPr>
        <p:spPr>
          <a:xfrm>
            <a:off x="996696" y="5522976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" y="548640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568696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Documented the deploy quirk in chat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240280"/>
            <a:ext cx="5349240" cy="4160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0" y="2240280"/>
            <a:ext cx="5349240" cy="640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24688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C2626"/>
                </a:solidFill>
                <a:latin typeface="Segoe UI Semibold"/>
              </a:rPr>
              <a:t>Friday  ·  same Cline, blank slate</a:t>
            </a:r>
          </a:p>
        </p:txBody>
      </p:sp>
      <p:sp>
        <p:nvSpPr>
          <p:cNvPr id="34" name="Oval 33"/>
          <p:cNvSpPr/>
          <p:nvPr/>
        </p:nvSpPr>
        <p:spPr>
          <a:xfrm>
            <a:off x="6574536" y="303580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74536" y="2999232"/>
            <a:ext cx="292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081528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What were the refund rules again?</a:t>
            </a:r>
          </a:p>
        </p:txBody>
      </p:sp>
      <p:sp>
        <p:nvSpPr>
          <p:cNvPr id="37" name="Oval 36"/>
          <p:cNvSpPr/>
          <p:nvPr/>
        </p:nvSpPr>
        <p:spPr>
          <a:xfrm>
            <a:off x="6574536" y="3657600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74536" y="3621024"/>
            <a:ext cx="292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3703320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Why did we make it idempotent?</a:t>
            </a:r>
          </a:p>
        </p:txBody>
      </p:sp>
      <p:sp>
        <p:nvSpPr>
          <p:cNvPr id="40" name="Oval 39"/>
          <p:cNvSpPr/>
          <p:nvPr/>
        </p:nvSpPr>
        <p:spPr>
          <a:xfrm>
            <a:off x="6574536" y="4279392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74536" y="4242816"/>
            <a:ext cx="292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325112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Has this bug been hit before?</a:t>
            </a:r>
          </a:p>
        </p:txBody>
      </p:sp>
      <p:sp>
        <p:nvSpPr>
          <p:cNvPr id="43" name="Oval 42"/>
          <p:cNvSpPr/>
          <p:nvPr/>
        </p:nvSpPr>
        <p:spPr>
          <a:xfrm>
            <a:off x="6574536" y="4901184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74536" y="4864608"/>
            <a:ext cx="292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4946904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What's our naming convention here?</a:t>
            </a:r>
          </a:p>
        </p:txBody>
      </p:sp>
      <p:sp>
        <p:nvSpPr>
          <p:cNvPr id="46" name="Oval 45"/>
          <p:cNvSpPr/>
          <p:nvPr/>
        </p:nvSpPr>
        <p:spPr>
          <a:xfrm>
            <a:off x="6574536" y="5522976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74536" y="548640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5568696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How do we deploy this service?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5196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4748B"/>
                </a:solidFill>
                <a:latin typeface="Segoe UI"/>
              </a:rPr>
              <a:t>Knowledge generated in one session evaporates when it closes — and never reaches another developer's Cline.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Where Cline Goes With Engram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One MCP endpoint gives Cline a long-term memory — and a shared one.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persistent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03  / 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48840"/>
            <a:ext cx="3520440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148840"/>
            <a:ext cx="3520440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943100" y="256032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43100" y="28346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Segoe UI Semibold"/>
              </a:rPr>
              <a:t>Remember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11480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Architecture decisions, gotchas, and the reasoning behind them — kept across sessions, indefinitely.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2148840"/>
            <a:ext cx="3520440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34256" y="2148840"/>
            <a:ext cx="3520440" cy="640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37276" y="2560320"/>
            <a:ext cx="914400" cy="91440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37276" y="28346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6" y="356616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Segoe UI Semibold"/>
              </a:rPr>
              <a:t>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411480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Every bug Cline fixes becomes a lesson. It recalls the lesson before it can repeat the mistake.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2" y="2148840"/>
            <a:ext cx="3520440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28432" y="2148840"/>
            <a:ext cx="3520440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31452" y="2560320"/>
            <a:ext cx="914400" cy="9144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31452" y="28346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2" y="356616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Segoe UI Semibold"/>
              </a:rPr>
              <a:t>Share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411480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What one engineer's Cline discovers, every engineer's Cline knows — instantly, team-wide.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440680"/>
            <a:ext cx="10908792" cy="86868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55955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SAME AGENT, SAME EDITOR, SAME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3387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Segoe UI"/>
              </a:rPr>
              <a:t>The only difference is continuity — Cline is now brilliant in the moment and across time, for the whole team.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WITHOUT ENGRAM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Use Case — A Payments Platform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8 engineers, dense domain logic, frequent on-call. Watch the cost repeat.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persistent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04  / 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11680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3055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4748B"/>
                </a:solidFill>
                <a:latin typeface="Segoe UI Semibold"/>
              </a:rPr>
              <a:t>Mon</a:t>
            </a:r>
          </a:p>
        </p:txBody>
      </p:sp>
      <p:sp>
        <p:nvSpPr>
          <p:cNvPr id="15" name="Oval 14"/>
          <p:cNvSpPr/>
          <p:nvPr/>
        </p:nvSpPr>
        <p:spPr>
          <a:xfrm>
            <a:off x="1965960" y="2194560"/>
            <a:ext cx="182880" cy="18288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13055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Segoe UI"/>
              </a:rPr>
              <a:t>A developer asks Cline to add a refund endpoint.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24912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4378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DC2626"/>
                </a:solidFill>
                <a:latin typeface="Segoe UI Semibold"/>
              </a:rPr>
              <a:t>—</a:t>
            </a:r>
          </a:p>
        </p:txBody>
      </p:sp>
      <p:sp>
        <p:nvSpPr>
          <p:cNvPr id="19" name="Oval 18"/>
          <p:cNvSpPr/>
          <p:nvPr/>
        </p:nvSpPr>
        <p:spPr>
          <a:xfrm>
            <a:off x="1965960" y="2907792"/>
            <a:ext cx="182880" cy="18288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2843784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Segoe UI"/>
              </a:rPr>
              <a:t>Cline doesn't know refunds must be idempotent — the gateway silently double-charges on retry.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38144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57016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DC2626"/>
                </a:solidFill>
                <a:latin typeface="Segoe UI Semibold"/>
              </a:rPr>
              <a:t>—</a:t>
            </a:r>
          </a:p>
        </p:txBody>
      </p:sp>
      <p:sp>
        <p:nvSpPr>
          <p:cNvPr id="23" name="Oval 22"/>
          <p:cNvSpPr/>
          <p:nvPr/>
        </p:nvSpPr>
        <p:spPr>
          <a:xfrm>
            <a:off x="1965960" y="3621024"/>
            <a:ext cx="182880" cy="18288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3557016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Segoe UI"/>
              </a:rPr>
              <a:t>It writes clean-but-wrong code. The bug ships.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151376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7024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D97706"/>
                </a:solidFill>
                <a:latin typeface="Segoe UI Semibold"/>
              </a:rPr>
              <a:t>2 a.m.</a:t>
            </a:r>
          </a:p>
        </p:txBody>
      </p:sp>
      <p:sp>
        <p:nvSpPr>
          <p:cNvPr id="27" name="Oval 26"/>
          <p:cNvSpPr/>
          <p:nvPr/>
        </p:nvSpPr>
        <p:spPr>
          <a:xfrm>
            <a:off x="1965960" y="4334256"/>
            <a:ext cx="182880" cy="18288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0" y="427024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Segoe UI"/>
              </a:rPr>
              <a:t>Incident fires. On-call engineer fixes it under pressure.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864608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8348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4748B"/>
                </a:solidFill>
                <a:latin typeface="Segoe UI Semibold"/>
              </a:rPr>
              <a:t>+2 mo</a:t>
            </a:r>
          </a:p>
        </p:txBody>
      </p:sp>
      <p:sp>
        <p:nvSpPr>
          <p:cNvPr id="31" name="Oval 30"/>
          <p:cNvSpPr/>
          <p:nvPr/>
        </p:nvSpPr>
        <p:spPr>
          <a:xfrm>
            <a:off x="1965960" y="5047488"/>
            <a:ext cx="182880" cy="18288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0" y="498348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Segoe UI"/>
              </a:rPr>
              <a:t>A different developer asks for a partial-refund endpoint…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577840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69671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DC2626"/>
                </a:solidFill>
                <a:latin typeface="Segoe UI Semibold"/>
              </a:rPr>
              <a:t>↺</a:t>
            </a:r>
          </a:p>
        </p:txBody>
      </p:sp>
      <p:sp>
        <p:nvSpPr>
          <p:cNvPr id="35" name="Oval 34"/>
          <p:cNvSpPr/>
          <p:nvPr/>
        </p:nvSpPr>
        <p:spPr>
          <a:xfrm>
            <a:off x="1965960" y="5760720"/>
            <a:ext cx="182880" cy="18288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569671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Segoe UI"/>
              </a:rPr>
              <a:t>…and Cline, still amnesiac, makes the exact same mistake.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6355080"/>
            <a:ext cx="10908792" cy="292608"/>
          </a:xfrm>
          <a:prstGeom prst="roundRect">
            <a:avLst>
              <a:gd name="adj" fmla="val 4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38251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DC2626"/>
                </a:solidFill>
                <a:latin typeface="Segoe UI Semibold"/>
              </a:rPr>
              <a:t>The same class of bug, paid for twice — and it will happen a third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WITH ENGRAM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Use Case — The Same Team, With Engram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One lesson captured once protects the whole team forever.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persistent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05  / 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11680"/>
            <a:ext cx="1097280" cy="53035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3055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Segoe UI Semibold"/>
              </a:rPr>
              <a:t>2 a.m.</a:t>
            </a:r>
          </a:p>
        </p:txBody>
      </p:sp>
      <p:sp>
        <p:nvSpPr>
          <p:cNvPr id="15" name="Oval 14"/>
          <p:cNvSpPr/>
          <p:nvPr/>
        </p:nvSpPr>
        <p:spPr>
          <a:xfrm>
            <a:off x="1965960" y="2185416"/>
            <a:ext cx="182880" cy="18288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112264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Segoe UI"/>
              </a:rPr>
              <a:t>The incident is fixed — and Cline saves a lesson to Engram: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88336"/>
            <a:ext cx="1097280" cy="53035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0720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lesson</a:t>
            </a:r>
          </a:p>
        </p:txBody>
      </p:sp>
      <p:sp>
        <p:nvSpPr>
          <p:cNvPr id="19" name="Oval 18"/>
          <p:cNvSpPr/>
          <p:nvPr/>
        </p:nvSpPr>
        <p:spPr>
          <a:xfrm>
            <a:off x="1965960" y="2862072"/>
            <a:ext cx="182880" cy="182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77440" y="2670048"/>
            <a:ext cx="9052560" cy="56692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2798064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FFFFFF"/>
                </a:solidFill>
                <a:latin typeface="Consolas"/>
              </a:rPr>
              <a:t>"Refund paths must be idempotent — gateway double-charges on retry; key on refund_request_id."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364992"/>
            <a:ext cx="1097280" cy="53035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48386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 Semibold"/>
              </a:rPr>
              <a:t>+2 mo</a:t>
            </a:r>
          </a:p>
        </p:txBody>
      </p:sp>
      <p:sp>
        <p:nvSpPr>
          <p:cNvPr id="24" name="Oval 23"/>
          <p:cNvSpPr/>
          <p:nvPr/>
        </p:nvSpPr>
        <p:spPr>
          <a:xfrm>
            <a:off x="1965960" y="3538728"/>
            <a:ext cx="182880" cy="18288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3465576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Segoe UI"/>
              </a:rPr>
              <a:t>Another developer asks Cline for the partial-refund endpoint.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041648"/>
            <a:ext cx="1097280" cy="53035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60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Segoe UI Semibold"/>
              </a:rPr>
              <a:t>recall</a:t>
            </a:r>
          </a:p>
        </p:txBody>
      </p:sp>
      <p:sp>
        <p:nvSpPr>
          <p:cNvPr id="28" name="Oval 27"/>
          <p:cNvSpPr/>
          <p:nvPr/>
        </p:nvSpPr>
        <p:spPr>
          <a:xfrm>
            <a:off x="1965960" y="4215384"/>
            <a:ext cx="182880" cy="18288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414223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Segoe UI"/>
              </a:rPr>
              <a:t>Before writing a line, Cline recalls the lesson from shared memory.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718304"/>
            <a:ext cx="1097280" cy="53035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837176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Segoe UI Semibold"/>
              </a:rPr>
              <a:t>✓</a:t>
            </a:r>
          </a:p>
        </p:txBody>
      </p:sp>
      <p:sp>
        <p:nvSpPr>
          <p:cNvPr id="32" name="Oval 31"/>
          <p:cNvSpPr/>
          <p:nvPr/>
        </p:nvSpPr>
        <p:spPr>
          <a:xfrm>
            <a:off x="1965960" y="4892040"/>
            <a:ext cx="182880" cy="18288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0" y="481888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Segoe UI"/>
              </a:rPr>
              <a:t>It generates idempotent code on the first try.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394960"/>
            <a:ext cx="1097280" cy="53035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51383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Segoe UI Semibold"/>
              </a:rPr>
              <a:t>result</a:t>
            </a:r>
          </a:p>
        </p:txBody>
      </p:sp>
      <p:sp>
        <p:nvSpPr>
          <p:cNvPr id="36" name="Oval 35"/>
          <p:cNvSpPr/>
          <p:nvPr/>
        </p:nvSpPr>
        <p:spPr>
          <a:xfrm>
            <a:off x="1965960" y="5568696"/>
            <a:ext cx="182880" cy="18288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77440" y="5495544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Segoe UI"/>
              </a:rPr>
              <a:t>The 2 a.m. incident never happens twice.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6309360"/>
            <a:ext cx="10908792" cy="310896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345936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Segoe UI Semibold"/>
              </a:rPr>
              <a:t>That single avoided incident pays for the entire system — then it keeps paying.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THE PAYOFF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It Compounds Across Everything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The refund story is one of dozens — onboarding, decisions, deploys, conventions.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persistent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06  /  10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2148840"/>
          <a:ext cx="1090879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78224"/>
                <a:gridCol w="408736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Scenario</a:t>
                      </a:r>
                    </a:p>
                  </a:txBody>
                  <a:tcPr marL="109728" marR="109728" marT="73152" marB="7315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Cline today</a:t>
                      </a:r>
                    </a:p>
                  </a:txBody>
                  <a:tcPr marL="109728" marR="109728" marT="73152" marB="7315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Cline + Engram</a:t>
                      </a:r>
                    </a:p>
                  </a:txBody>
                  <a:tcPr marL="109728" marR="109728" marT="73152" marB="73152">
                    <a:solidFill>
                      <a:srgbClr val="1E3A8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New hire's first week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Asks teammates the same questions repeatedly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Segoe UI"/>
                        </a:rPr>
                        <a:t>Recalls runbooks, conventions, architecture instantly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A senior dev leaves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Tribal knowledge walks out the door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Segoe UI"/>
                        </a:rPr>
                        <a:t>Their captured context stays in the shared brain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A recurring class of bug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Repeated every time it's encountered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Segoe UI"/>
                        </a:rPr>
                        <a:t>Recalled and avoided before code is written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Cross-service monorepo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Context bleeds between services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Segoe UI"/>
                        </a:rPr>
                        <a:t>Project scoping keeps each service's memory clean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Architecture decisions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Re-explained, re-derived, re-litigated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3EB"/>
                          </a:solidFill>
                          <a:latin typeface="Segoe UI"/>
                        </a:rPr>
                        <a:t>Remembered with the reasoning behind them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64748B"/>
                </a:solidFill>
                <a:latin typeface="Segoe UI"/>
              </a:rPr>
              <a:t>Each row is hours saved, incidents avoided, and ramp-up shortened — every week, across every developer.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Engram sits beside Cline as an MCP server — one shared, project-scoped brain.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persistent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07  / 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91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4748B"/>
                </a:solidFill>
                <a:latin typeface="Segoe UI Semibold"/>
              </a:rPr>
              <a:t>EVERY DEVELOPER'S EDITOR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98167" y="196596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98167" y="209397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VS Code  ·  Cline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8167" y="2423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Developer 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1407" y="196596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1407" y="209397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VS Code  ·  Cline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1407" y="2423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Developer 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4647" y="196596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4647" y="209397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VS Code  ·  Cline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4647" y="2423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Developer 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58087" y="3611880"/>
            <a:ext cx="9875520" cy="1691640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8087" y="3739896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563EB"/>
                </a:solidFill>
                <a:latin typeface="Segoe UI Semibold"/>
              </a:rPr>
              <a:t>ENGRAM SERVER  ·  one shared brain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6103" y="4178808"/>
            <a:ext cx="23088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31823" y="4306824"/>
            <a:ext cx="22174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Segoe UI Semibold"/>
              </a:rPr>
              <a:t>MCP Endpoint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1823" y="4636008"/>
            <a:ext cx="22174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recall · save · lessons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22979" y="4178808"/>
            <a:ext cx="23088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8699" y="4306824"/>
            <a:ext cx="22174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Segoe UI Semibold"/>
              </a:rPr>
              <a:t>Memory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8699" y="4636008"/>
            <a:ext cx="22174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project scoping · dedup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9855" y="4178808"/>
            <a:ext cx="23088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5575" y="4306824"/>
            <a:ext cx="22174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Segoe UI Semibold"/>
              </a:rPr>
              <a:t>Consolidation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05575" y="4636008"/>
            <a:ext cx="22174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raw notes → durable patterns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6731" y="4178808"/>
            <a:ext cx="23088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2451" y="4306824"/>
            <a:ext cx="22174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Segoe UI Semibold"/>
              </a:rPr>
              <a:t>Governance / 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2451" y="4636008"/>
            <a:ext cx="22174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who knew what · purge on demand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032607" y="2834640"/>
            <a:ext cx="0" cy="777240"/>
          </a:xfrm>
          <a:prstGeom prst="bentConnector3">
            <a:avLst/>
          </a:prstGeom>
          <a:ln w="19050">
            <a:solidFill>
              <a:srgbClr val="CBD5E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095847" y="2834640"/>
            <a:ext cx="0" cy="777240"/>
          </a:xfrm>
          <a:prstGeom prst="bentConnector3">
            <a:avLst/>
          </a:prstGeom>
          <a:ln w="19050">
            <a:solidFill>
              <a:srgbClr val="CBD5E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159087" y="2834640"/>
            <a:ext cx="0" cy="777240"/>
          </a:xfrm>
          <a:prstGeom prst="bentConnector3">
            <a:avLst/>
          </a:prstGeom>
          <a:ln w="19050">
            <a:solidFill>
              <a:srgbClr val="CBD5E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798167" y="2999232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4748B"/>
                </a:solidFill>
                <a:latin typeface="Segoe UI"/>
              </a:rPr>
              <a:t>MCP  ·  recall before answering   ↓        ↑   save after working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24047" y="5715000"/>
            <a:ext cx="59436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124047" y="5715000"/>
            <a:ext cx="64008" cy="6858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52647" y="5806440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Segoe UI Semibold"/>
              </a:rPr>
              <a:t>⬢  Persistent store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52647" y="6108192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durable · survives restarts · backed up like any other data store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095847" y="5303520"/>
            <a:ext cx="0" cy="411480"/>
          </a:xfrm>
          <a:prstGeom prst="bentConnector3">
            <a:avLst/>
          </a:prstGeom>
          <a:ln w="19050">
            <a:solidFill>
              <a:srgbClr val="CBD5E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How a Request 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Recall before answering, save after working — automatic, no new workflow.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persistent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08  /  10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093976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30552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0574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172A"/>
                </a:solidFill>
                <a:latin typeface="Segoe UI Semibold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05740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334155"/>
                </a:solidFill>
                <a:latin typeface="Segoe UI"/>
              </a:rPr>
              <a:t>A developer prompts Cline in VS Code, exactly as they do today.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" y="2624328"/>
            <a:ext cx="18288" cy="29260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293522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71800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289864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172A"/>
                </a:solidFill>
                <a:latin typeface="Segoe UI Semibold"/>
              </a:rPr>
              <a:t>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89864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334155"/>
                </a:solidFill>
                <a:latin typeface="Segoe UI"/>
              </a:rPr>
              <a:t>Before answering, Cline pulls the relevant memories and lessons for that project from Engram.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" y="3465576"/>
            <a:ext cx="18288" cy="29260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3776472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13048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73989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172A"/>
                </a:solidFill>
                <a:latin typeface="Segoe UI Semibold"/>
              </a:rPr>
              <a:t>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39896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334155"/>
                </a:solidFill>
                <a:latin typeface="Segoe UI"/>
              </a:rPr>
              <a:t>Cline completes the task with full team context — not a blank slate.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2" y="4306824"/>
            <a:ext cx="18288" cy="29260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461772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654296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58114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172A"/>
                </a:solidFill>
                <a:latin typeface="Segoe UI Semibold"/>
              </a:rPr>
              <a:t>Save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581144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334155"/>
                </a:solidFill>
                <a:latin typeface="Segoe UI"/>
              </a:rPr>
              <a:t>New decisions, fixes, and lessons are written back to Engram, scoped to the project.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" y="5148072"/>
            <a:ext cx="18288" cy="29260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" y="5458968"/>
            <a:ext cx="548640" cy="548640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495544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42239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F172A"/>
                </a:solidFill>
                <a:latin typeface="Segoe UI Semibold"/>
              </a:rPr>
              <a:t>Share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422392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334155"/>
                </a:solidFill>
                <a:latin typeface="Segoe UI"/>
              </a:rPr>
              <a:t>Every teammate's Cline can recall it immediately. Knowledge compounds.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4748B"/>
                </a:solidFill>
                <a:latin typeface="Segoe UI"/>
              </a:rPr>
              <a:t>A consolidation pipeline distills raw notes into durable patterns; every write is audited and can be purged on demand.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Engram  × 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The Business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Engram turns AI sessions from a sunk cost into a compounding asset.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Engram — persistent memory for AI coding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09  / 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57400"/>
            <a:ext cx="53492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057400"/>
            <a:ext cx="54864" cy="1828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31343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F172A"/>
                </a:solidFill>
                <a:latin typeface="Segoe UI"/>
              </a:rPr>
              <a:t>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331720"/>
            <a:ext cx="4069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Faster onboarding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807208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Cline gives new hires the team's accumulated context on day one. Ramp-up drops from weeks to a query.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57400"/>
            <a:ext cx="53492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2057400"/>
            <a:ext cx="54864" cy="18288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31343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F172A"/>
                </a:solidFill>
                <a:latin typeface="Segoe UI"/>
              </a:rP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331720"/>
            <a:ext cx="4069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Knowledge survives turnover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807208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Expertise stays in the shared brain when people move on — not locked in one person's head.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69080"/>
            <a:ext cx="53492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069080"/>
            <a:ext cx="54864" cy="18288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32511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F172A"/>
                </a:solidFill>
                <a:latin typeface="Segoe UI"/>
              </a:rPr>
              <a:t>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343400"/>
            <a:ext cx="4069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Fewer repeated incidents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818888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One engineer's lesson becomes the whole team's immunity to that class of bug.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069080"/>
            <a:ext cx="53492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4069080"/>
            <a:ext cx="54864" cy="18288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32511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F172A"/>
                </a:solidFill>
                <a:latin typeface="Segoe UI"/>
              </a:rPr>
              <a:t>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343400"/>
            <a:ext cx="4069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Lower cost, sharper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4818888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Cline recalls distilled, relevant memory instead of re-ingesting full context every session.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7804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7804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7804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7804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7804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6676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6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6676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6676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6676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6112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6112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5548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5548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5548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5548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4984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4984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4984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4984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4984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74420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74420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74420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4420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4420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33856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33856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33856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33856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3856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B82F6"/>
                </a:solidFill>
                <a:latin typeface="Segoe UI Semibold"/>
              </a:rPr>
              <a:t>THE ASK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1097280"/>
            <a:ext cx="6035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Segoe UI Semibold"/>
              </a:rPr>
              <a:t>Run a one-quarter pilot</a:t>
            </a:r>
          </a:p>
        </p:txBody>
      </p:sp>
      <p:sp>
        <p:nvSpPr>
          <p:cNvPr id="47" name="Oval 46"/>
          <p:cNvSpPr/>
          <p:nvPr/>
        </p:nvSpPr>
        <p:spPr>
          <a:xfrm>
            <a:off x="640080" y="2816352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2743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One team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31089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Standardized on Cline + Engram for a single quarter.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" y="3730752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" y="3657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Measure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40233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Onboarding time · repeated-error rate · engineer-reported friction.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" y="4645152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0120" y="4572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Decide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" y="49377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Expand on the results — the data makes the case, not the slide.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69480" y="2377440"/>
            <a:ext cx="44805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FFFFFF"/>
                </a:solidFill>
                <a:latin typeface="Segoe UI Semibold"/>
              </a:rPr>
              <a:t>Keep Cline exactly as your team uses it — and give it a memory, so every session compounds into a shared asset instead of resetting to zero.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69480" y="6035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Engram  ×  Cline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