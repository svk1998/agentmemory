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3816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3816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3816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6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392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0392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0392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6968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6968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6968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6968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6968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6968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3544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3544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23544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3544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23544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3544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0120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0120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0120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60120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60120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60120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96696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96696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96696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6696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96696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96696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3272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3272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3272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3272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3272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3272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69848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69848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69848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69848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69848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69848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06424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06424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06424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06424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06424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06424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43000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43000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43000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43000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43000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143000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179576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179576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79576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79576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79576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79576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40080" y="178308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1819656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MANAGEMENT BRIEFING  ·  5 MIN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24231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 i="0">
                <a:solidFill>
                  <a:srgbClr val="0F172A"/>
                </a:solidFill>
                <a:latin typeface="Segoe UI Light"/>
              </a:rPr>
              <a:t>Engram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" y="3794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2563EB"/>
                </a:solidFill>
                <a:latin typeface="Segoe UI Semibold"/>
              </a:rPr>
              <a:t>memory for Cline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" y="4526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1">
                <a:solidFill>
                  <a:srgbClr val="334155"/>
                </a:solidFill>
                <a:latin typeface="Segoe UI"/>
              </a:rPr>
              <a:t>Cline, but it never forgets.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8368" y="521208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8368" y="5440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4748B"/>
                </a:solidFill>
                <a:latin typeface="Segoe UI"/>
              </a:rPr>
              <a:t>A shared, compounding knowledge brain for the Samsung TV / Tizen team.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Persistent · Project-scoped · Team-shared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0" y="651052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Powered by agentmemory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PROBLEM →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Cline Today vs. Cline With Engram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Cline is brilliant in the moment — Engram makes it brilliant across time, for the whole team.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persistent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02  /  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10908792" cy="566928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66543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084831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334155"/>
                </a:solidFill>
                <a:latin typeface="Segoe UI"/>
              </a:rPr>
              <a:t>Today  —  every Cline session starts from zero: context is re-explained, knowledge evaporates when the chat closes, and one mistake gets repeated team-wide.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88920"/>
            <a:ext cx="3520440" cy="2514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788920"/>
            <a:ext cx="3520440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79676" y="3145536"/>
            <a:ext cx="841248" cy="8412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79676" y="3383280"/>
            <a:ext cx="8412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Segoe UI Semibold"/>
              </a:rPr>
              <a:t>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 i="0">
                <a:solidFill>
                  <a:srgbClr val="0F172A"/>
                </a:solidFill>
                <a:latin typeface="Segoe UI Semibold"/>
              </a:rPr>
              <a:t>Remember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44568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Architecture, decisions, and Tizen gotchas — kept across sessions, indefinitely.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4256" y="2788920"/>
            <a:ext cx="3520440" cy="2514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34256" y="2788920"/>
            <a:ext cx="3520440" cy="640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73852" y="3145536"/>
            <a:ext cx="841248" cy="84124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73852" y="3383280"/>
            <a:ext cx="8412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Segoe UI Semibold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6" y="4069080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 i="0">
                <a:solidFill>
                  <a:srgbClr val="0F172A"/>
                </a:solidFill>
                <a:latin typeface="Segoe UI Semibold"/>
              </a:rPr>
              <a:t>Learn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4296" y="4544568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Every bug Cline fixes becomes a lesson it recalls before it can repeat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2" y="2788920"/>
            <a:ext cx="3520440" cy="2514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28432" y="2788920"/>
            <a:ext cx="3520440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68028" y="3145536"/>
            <a:ext cx="841248" cy="8412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68028" y="3383280"/>
            <a:ext cx="8412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Segoe UI Semibold"/>
              </a:rPr>
              <a:t>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2" y="4069080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 i="0">
                <a:solidFill>
                  <a:srgbClr val="0F172A"/>
                </a:solidFill>
                <a:latin typeface="Segoe UI Semibold"/>
              </a:rPr>
              <a:t>Share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4544568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What one engineer's Cline learns, every engineer's Cline knows — instantly.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577840"/>
            <a:ext cx="10908792" cy="6400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733288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563EB"/>
                </a:solidFill>
                <a:latin typeface="Segoe UI Semibold"/>
              </a:rPr>
              <a:t>Same agent, same editor, same workflow — the only difference is continuity.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THE PAYOFF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Use Case — Samsung TV / Tizen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A real Tizen gotcha, captured once, protects every future screen and every developer.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persistent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03  /  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03120"/>
            <a:ext cx="5349240" cy="3703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103120"/>
            <a:ext cx="5349240" cy="640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304288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C2626"/>
                </a:solidFill>
                <a:latin typeface="Segoe UI Semibold"/>
              </a:rPr>
              <a:t>Without Engram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81635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834640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Dev asks Cline to add remote playback controls.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3832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40156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Cline writes standard JS keydown handlers.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9502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968496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On the TV, the media / colour remote keys never fire.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1713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535424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Hours lost — the keys were never registered with Tizen.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08406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102352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Weeks later, a new screen → the same dead-key bug.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2103120"/>
            <a:ext cx="5349240" cy="3703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99632" y="2103120"/>
            <a:ext cx="5349240" cy="640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2304288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59669"/>
                </a:solidFill>
                <a:latin typeface="Segoe UI Semibold"/>
              </a:rPr>
              <a:t>With Engram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9672" y="2761488"/>
            <a:ext cx="4709160" cy="914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2552" y="2852928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CBD5E1"/>
                </a:solidFill>
                <a:latin typeface="Consolas"/>
              </a:rPr>
              <a:t>lesson saved:  "Tizen remote media/colour keys emit keydown only after tizen.tvinputdevice.registerKey(); register on init, unregister on teardown."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3931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59669"/>
                </a:solidFill>
                <a:latin typeface="Segoe UI Semibold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395020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Next feature: Cline recalls the lesson before coding.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449884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59669"/>
                </a:solidFill>
                <a:latin typeface="Segoe UI Semibold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4517136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It registers the keys correctly on the first try.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506577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59669"/>
                </a:solidFill>
                <a:latin typeface="Segoe UI Semibold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5084064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The dead-key bug never returns — for anyone.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989320"/>
            <a:ext cx="10908792" cy="310896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025896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Segoe UI Semibold"/>
              </a:rPr>
              <a:t>Multiply across AVPlay codecs, focus navigation, app lifecycle, and device signing — the lessons compound.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Architecture &amp; Request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Engram sits beside Cline as an MCP server — one shared, project-scoped brain.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persistent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04  /  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642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4748B"/>
                </a:solidFill>
                <a:latin typeface="Segoe UI Semibold"/>
              </a:rPr>
              <a:t>EVERY DEVELOPER'S EDITOR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98167" y="1920240"/>
            <a:ext cx="2468880" cy="8229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98167" y="20391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VS Code  ·  Cline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8167" y="23591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TV App — Dev 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1407" y="1920240"/>
            <a:ext cx="2468880" cy="8229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1407" y="20391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VS Code  ·  Cline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1407" y="23591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TV App — Dev 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4647" y="1920240"/>
            <a:ext cx="2468880" cy="8229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4647" y="20391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VS Code  ·  Cline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4647" y="23591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TV App — Dev 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58087" y="3383280"/>
            <a:ext cx="9875520" cy="1554480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8087" y="349300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563EB"/>
                </a:solidFill>
                <a:latin typeface="Segoe UI Semibold"/>
              </a:rPr>
              <a:t>ENGRAM SERVER  ·  one shared brain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6103" y="3913632"/>
            <a:ext cx="23088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31823" y="4023360"/>
            <a:ext cx="22174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Segoe UI Semibold"/>
              </a:rPr>
              <a:t>MCP Endpoint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1823" y="4334256"/>
            <a:ext cx="22174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recall · save · lessons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22979" y="3913632"/>
            <a:ext cx="23088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8699" y="4023360"/>
            <a:ext cx="22174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Segoe UI Semibold"/>
              </a:rPr>
              <a:t>Memory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8699" y="4334256"/>
            <a:ext cx="22174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project scoping · dedup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9855" y="3913632"/>
            <a:ext cx="23088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5575" y="4023360"/>
            <a:ext cx="22174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Segoe UI Semibold"/>
              </a:rPr>
              <a:t>Consolidation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05575" y="4334256"/>
            <a:ext cx="22174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notes → durable patterns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6731" y="3913632"/>
            <a:ext cx="23088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2451" y="4023360"/>
            <a:ext cx="22174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Segoe UI Semibold"/>
              </a:rPr>
              <a:t>Governance / 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2451" y="4334256"/>
            <a:ext cx="22174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who knew what · purge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032607" y="2743200"/>
            <a:ext cx="0" cy="640080"/>
          </a:xfrm>
          <a:prstGeom prst="bentConnector3">
            <a:avLst/>
          </a:prstGeom>
          <a:ln w="19050">
            <a:solidFill>
              <a:srgbClr val="CBD5E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095847" y="2743200"/>
            <a:ext cx="0" cy="640080"/>
          </a:xfrm>
          <a:prstGeom prst="bentConnector3">
            <a:avLst/>
          </a:prstGeom>
          <a:ln w="19050">
            <a:solidFill>
              <a:srgbClr val="CBD5E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159087" y="2743200"/>
            <a:ext cx="0" cy="640080"/>
          </a:xfrm>
          <a:prstGeom prst="bentConnector3">
            <a:avLst/>
          </a:prstGeom>
          <a:ln w="19050">
            <a:solidFill>
              <a:srgbClr val="CBD5E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0080" y="50932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4748B"/>
                </a:solidFill>
                <a:latin typeface="Segoe UI Semibold"/>
              </a:rPr>
              <a:t>EVERY REQUEST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4334" y="5349240"/>
            <a:ext cx="1874519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88926" y="5522976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8926" y="555040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2974" y="5532120"/>
            <a:ext cx="12344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Prompt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98853" y="5495544"/>
            <a:ext cx="292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4A3B8"/>
                </a:solidFill>
                <a:latin typeface="Segoe UI Semibold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91461" y="5349240"/>
            <a:ext cx="1874519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156053" y="5522976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56053" y="555040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40101" y="5532120"/>
            <a:ext cx="12344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Recall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65980" y="5495544"/>
            <a:ext cx="292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4A3B8"/>
                </a:solidFill>
                <a:latin typeface="Segoe UI Semibold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58588" y="5349240"/>
            <a:ext cx="1874519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23180" y="5522976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23180" y="555040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07228" y="5532120"/>
            <a:ext cx="12344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Work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33107" y="5495544"/>
            <a:ext cx="292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4A3B8"/>
                </a:solidFill>
                <a:latin typeface="Segoe UI Semibold"/>
              </a:rP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25715" y="5349240"/>
            <a:ext cx="1874519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90307" y="5522976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0307" y="555040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74355" y="5532120"/>
            <a:ext cx="12344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Save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00234" y="5495544"/>
            <a:ext cx="292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4A3B8"/>
                </a:solidFill>
                <a:latin typeface="Segoe UI Semibold"/>
              </a:rPr>
              <a:t>→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92842" y="5349240"/>
            <a:ext cx="1874519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657434" y="5522976"/>
            <a:ext cx="292608" cy="292608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57434" y="555040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41482" y="5532120"/>
            <a:ext cx="12344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Share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RELEASE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Rollout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How we adopt Engram in phases — each phase ships value and de-risks the next.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persistent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05  /  05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6879" y="5852160"/>
            <a:ext cx="10917936" cy="0"/>
          </a:xfrm>
          <a:prstGeom prst="line">
            <a:avLst/>
          </a:prstGeom>
          <a:ln w="254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006175" y="5852160"/>
            <a:ext cx="548640" cy="0"/>
          </a:xfrm>
          <a:prstGeom prst="bentConnector3">
            <a:avLst/>
          </a:prstGeom>
          <a:ln w="19050">
            <a:solidFill>
              <a:srgbClr val="CBD5E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6879" y="2331720"/>
            <a:ext cx="26060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6879" y="233172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1199" y="2606040"/>
            <a:ext cx="914400" cy="38404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199" y="2642616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199" y="3172968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199" y="3593592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563EB"/>
                </a:solidFill>
                <a:latin typeface="Segoe UI"/>
              </a:rPr>
              <a:t>Tizen team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1199" y="3959352"/>
            <a:ext cx="2057400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29487" y="418795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2367" y="4114800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Wire Engram to Cline</a:t>
            </a:r>
          </a:p>
        </p:txBody>
      </p:sp>
      <p:sp>
        <p:nvSpPr>
          <p:cNvPr id="24" name="Oval 23"/>
          <p:cNvSpPr/>
          <p:nvPr/>
        </p:nvSpPr>
        <p:spPr>
          <a:xfrm>
            <a:off x="929487" y="466344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2367" y="4590288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Capture lessons &amp; decisions</a:t>
            </a:r>
          </a:p>
        </p:txBody>
      </p:sp>
      <p:sp>
        <p:nvSpPr>
          <p:cNvPr id="26" name="Oval 25"/>
          <p:cNvSpPr/>
          <p:nvPr/>
        </p:nvSpPr>
        <p:spPr>
          <a:xfrm>
            <a:off x="929487" y="513892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2367" y="5065776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Per-app project scoping</a:t>
            </a:r>
          </a:p>
        </p:txBody>
      </p:sp>
      <p:sp>
        <p:nvSpPr>
          <p:cNvPr id="28" name="Oval 27"/>
          <p:cNvSpPr/>
          <p:nvPr/>
        </p:nvSpPr>
        <p:spPr>
          <a:xfrm>
            <a:off x="1866747" y="5779008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07511" y="2331720"/>
            <a:ext cx="26060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07511" y="233172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681831" y="2606040"/>
            <a:ext cx="914400" cy="384048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81831" y="2642616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Q2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81831" y="3172968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Team 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81831" y="3593592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C3AED"/>
                </a:solidFill>
                <a:latin typeface="Segoe UI"/>
              </a:rPr>
              <a:t>Shared brain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81831" y="3959352"/>
            <a:ext cx="2057400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700119" y="4187952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82999" y="4114800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Team-wide shared recall</a:t>
            </a:r>
          </a:p>
        </p:txBody>
      </p:sp>
      <p:sp>
        <p:nvSpPr>
          <p:cNvPr id="38" name="Oval 37"/>
          <p:cNvSpPr/>
          <p:nvPr/>
        </p:nvSpPr>
        <p:spPr>
          <a:xfrm>
            <a:off x="3700119" y="4663440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82999" y="4590288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Tizen lessons library grows</a:t>
            </a:r>
          </a:p>
        </p:txBody>
      </p:sp>
      <p:sp>
        <p:nvSpPr>
          <p:cNvPr id="40" name="Oval 39"/>
          <p:cNvSpPr/>
          <p:nvPr/>
        </p:nvSpPr>
        <p:spPr>
          <a:xfrm>
            <a:off x="3700119" y="5138928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2999" y="5065776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Gotchas auto-surfaced</a:t>
            </a:r>
          </a:p>
        </p:txBody>
      </p:sp>
      <p:sp>
        <p:nvSpPr>
          <p:cNvPr id="42" name="Oval 41"/>
          <p:cNvSpPr/>
          <p:nvPr/>
        </p:nvSpPr>
        <p:spPr>
          <a:xfrm>
            <a:off x="4637379" y="5779008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178143" y="2331720"/>
            <a:ext cx="26060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78143" y="233172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452463" y="2606040"/>
            <a:ext cx="914400" cy="384048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52463" y="2642616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Q3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52463" y="3172968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Onboarding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2463" y="3593592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59669"/>
                </a:solidFill>
                <a:latin typeface="Segoe UI"/>
              </a:rPr>
              <a:t>New-hire recall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452463" y="3959352"/>
            <a:ext cx="2057400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470751" y="4187952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53631" y="4114800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Runbooks on day one</a:t>
            </a:r>
          </a:p>
        </p:txBody>
      </p:sp>
      <p:sp>
        <p:nvSpPr>
          <p:cNvPr id="52" name="Oval 51"/>
          <p:cNvSpPr/>
          <p:nvPr/>
        </p:nvSpPr>
        <p:spPr>
          <a:xfrm>
            <a:off x="6470751" y="466344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53631" y="4590288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Conventions &amp; history recall</a:t>
            </a:r>
          </a:p>
        </p:txBody>
      </p:sp>
      <p:sp>
        <p:nvSpPr>
          <p:cNvPr id="54" name="Oval 53"/>
          <p:cNvSpPr/>
          <p:nvPr/>
        </p:nvSpPr>
        <p:spPr>
          <a:xfrm>
            <a:off x="6470751" y="5138928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53631" y="5065776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Ramp-up weeks → queries</a:t>
            </a:r>
          </a:p>
        </p:txBody>
      </p:sp>
      <p:sp>
        <p:nvSpPr>
          <p:cNvPr id="56" name="Oval 55"/>
          <p:cNvSpPr/>
          <p:nvPr/>
        </p:nvSpPr>
        <p:spPr>
          <a:xfrm>
            <a:off x="7408011" y="5779008"/>
            <a:ext cx="146304" cy="14630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948775" y="2331720"/>
            <a:ext cx="26060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948775" y="233172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223095" y="2606040"/>
            <a:ext cx="914400" cy="384048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23095" y="2642616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Q4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23095" y="3172968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Org Rollout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23095" y="3593592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D97706"/>
                </a:solidFill>
                <a:latin typeface="Segoe UI"/>
              </a:rPr>
              <a:t>Scale out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223095" y="3959352"/>
            <a:ext cx="2057400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9241383" y="4187952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24263" y="4114800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Governance + audit on</a:t>
            </a:r>
          </a:p>
        </p:txBody>
      </p:sp>
      <p:sp>
        <p:nvSpPr>
          <p:cNvPr id="66" name="Oval 65"/>
          <p:cNvSpPr/>
          <p:nvPr/>
        </p:nvSpPr>
        <p:spPr>
          <a:xfrm>
            <a:off x="9241383" y="4663440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24263" y="4590288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Expand to other product teams</a:t>
            </a:r>
          </a:p>
        </p:txBody>
      </p:sp>
      <p:sp>
        <p:nvSpPr>
          <p:cNvPr id="68" name="Oval 67"/>
          <p:cNvSpPr/>
          <p:nvPr/>
        </p:nvSpPr>
        <p:spPr>
          <a:xfrm>
            <a:off x="9241383" y="5138928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24263" y="5065776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Cross-team knowledge mesh</a:t>
            </a:r>
          </a:p>
        </p:txBody>
      </p:sp>
      <p:sp>
        <p:nvSpPr>
          <p:cNvPr id="70" name="Oval 69"/>
          <p:cNvSpPr/>
          <p:nvPr/>
        </p:nvSpPr>
        <p:spPr>
          <a:xfrm>
            <a:off x="10178643" y="5779008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64748B"/>
                </a:solidFill>
                <a:latin typeface="Segoe UI"/>
              </a:rPr>
              <a:t>Each phase is independently useful — we can stop, measure, and expand on real results at every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