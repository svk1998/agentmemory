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1" d="100"/>
          <a:sy n="111" d="100"/>
        </p:scale>
        <p:origin x="542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Recall @ 5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</c:spPr>
          <c:invertIfNegative val="1"/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F172A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agentmemory  hybrid</c:v>
                </c:pt>
                <c:pt idx="1">
                  <c:v>agentmemory  BM25-only</c:v>
                </c:pt>
                <c:pt idx="2">
                  <c:v>Letta / MemGPT</c:v>
                </c:pt>
                <c:pt idx="3">
                  <c:v>Mem0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95.2</c:v>
                </c:pt>
                <c:pt idx="1">
                  <c:v>86.2</c:v>
                </c:pt>
                <c:pt idx="2">
                  <c:v>83.2</c:v>
                </c:pt>
                <c:pt idx="3">
                  <c:v>68.5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A0E6-4782-A396-771D692C3CB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100"/>
          <c:min val="0"/>
        </c:scaling>
        <c:delete val="1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Tokens / year (M)</c:v>
                </c:pt>
              </c:strCache>
            </c:strRef>
          </c:tx>
          <c:spPr>
            <a:solidFill>
              <a:srgbClr val="2563EB"/>
            </a:solidFill>
            <a:ln>
              <a:noFill/>
            </a:ln>
          </c:spPr>
          <c:invertIfNegative val="1"/>
          <c:dLbls>
            <c:numFmt formatCode="0.0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1">
                    <a:solidFill>
                      <a:srgbClr val="0F172A"/>
                    </a:solidFill>
                    <a:latin typeface="Segoe U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Paste full history</c:v>
                </c:pt>
                <c:pt idx="1">
                  <c:v>LLM-summarized</c:v>
                </c:pt>
                <c:pt idx="2">
                  <c:v>agentmemory (API)</c:v>
                </c:pt>
                <c:pt idx="3">
                  <c:v>agentmemory (local)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19.5</c:v>
                </c:pt>
                <c:pt idx="1">
                  <c:v>0.65</c:v>
                </c:pt>
                <c:pt idx="2">
                  <c:v>0.17</c:v>
                </c:pt>
                <c:pt idx="3">
                  <c:v>0.17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  <a:ln>
                    <a:noFill/>
                  </a:ln>
                </c14:spPr>
              </c14:invertSolidFillFmt>
            </c:ext>
            <c:ext xmlns:c16="http://schemas.microsoft.com/office/drawing/2014/chart" uri="{C3380CC4-5D6E-409C-BE32-E72D297353CC}">
              <c16:uniqueId val="{00000000-6715-491F-9A28-4BCCEDA9B5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334155"/>
                </a:solidFill>
                <a:latin typeface="Segoe U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1"/>
        <c:axPos val="b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77240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77240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77240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77240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13816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813816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13816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13816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13816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13816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0392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50392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0392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50392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50392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50392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6968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86968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86968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886968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886968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886968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923544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23544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23544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23544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923544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923544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960120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960120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60120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60120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60120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60120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96696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96696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96696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96696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96696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96696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33272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33272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1033272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1033272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1033272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1033272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1069848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1069848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1069848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1069848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1069848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1069848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1106424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1106424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1106424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1106424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1106424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106424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143000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143000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1143000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1143000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1143000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1143000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11795760" y="4572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11795760" y="82296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11795760" y="118872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11795760" y="155448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11795760" y="192024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11795760" y="2286000"/>
            <a:ext cx="45720" cy="45720"/>
          </a:xfrm>
          <a:prstGeom prst="ellipse">
            <a:avLst/>
          </a:prstGeom>
          <a:solidFill>
            <a:srgbClr val="DBEA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ounded Rectangle 76"/>
          <p:cNvSpPr/>
          <p:nvPr/>
        </p:nvSpPr>
        <p:spPr>
          <a:xfrm>
            <a:off x="640080" y="1828800"/>
            <a:ext cx="2011680" cy="36576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/>
          <p:cNvSpPr txBox="1"/>
          <p:nvPr/>
        </p:nvSpPr>
        <p:spPr>
          <a:xfrm>
            <a:off x="640080" y="1865376"/>
            <a:ext cx="20116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TECHNICAL DEEP DIVE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48640" y="2468880"/>
            <a:ext cx="1097280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0" i="0">
                <a:solidFill>
                  <a:srgbClr val="0F172A"/>
                </a:solidFill>
                <a:latin typeface="Segoe UI Light"/>
              </a:rPr>
              <a:t>agentmemory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4023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400" b="0" i="0">
                <a:solidFill>
                  <a:srgbClr val="334155"/>
                </a:solidFill>
                <a:latin typeface="Segoe UI"/>
              </a:rPr>
              <a:t>Persistent memory for AI coding agents</a:t>
            </a:r>
          </a:p>
        </p:txBody>
      </p:sp>
      <p:sp>
        <p:nvSpPr>
          <p:cNvPr id="81" name="Rectangle 80"/>
          <p:cNvSpPr/>
          <p:nvPr/>
        </p:nvSpPr>
        <p:spPr>
          <a:xfrm>
            <a:off x="640080" y="4709160"/>
            <a:ext cx="73152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640080" y="4937760"/>
            <a:ext cx="10058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1">
                <a:solidFill>
                  <a:srgbClr val="64748B"/>
                </a:solidFill>
                <a:latin typeface="Segoe UI"/>
              </a:rPr>
              <a:t>An engineer's walkthrough of architecture, retrieval, benchmarks, and design tradeoffs.</a:t>
            </a:r>
          </a:p>
        </p:txBody>
      </p:sp>
      <p:sp>
        <p:nvSpPr>
          <p:cNvPr id="83" name="Rectangle 82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/>
          <p:cNvSpPr txBox="1"/>
          <p:nvPr/>
        </p:nvSpPr>
        <p:spPr>
          <a:xfrm>
            <a:off x="64008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github.com/rohitg00/agentmemory  ·  npm: @agentmemory/agentmemory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7315200" y="651052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v0.9.26  ·  MIT License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0408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0408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08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408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408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352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352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352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6352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352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82396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2396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2396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2396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2396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1832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1832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41832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1832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1832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126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0126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0126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0126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126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070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070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070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6070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070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2014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014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014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014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014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109728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DBEAFE"/>
                </a:solidFill>
                <a:latin typeface="Segoe UI Light"/>
              </a:rPr>
              <a:t>01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B82F6"/>
                </a:solidFill>
                <a:latin typeface="Segoe UI Semibold"/>
              </a:rPr>
              <a:t>SECTION 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474720"/>
            <a:ext cx="6400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 Semibold"/>
              </a:rPr>
              <a:t>The Problem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29200"/>
            <a:ext cx="5943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BD5E1"/>
                </a:solidFill>
                <a:latin typeface="Segoe UI"/>
              </a:rPr>
              <a:t>Why AI coding agents need persistent memory.
The hidden cost of context amnesia.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48640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agentmemory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The Amnesia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AI coding agents start every session from zero — no memory of what came before.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02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240280"/>
            <a:ext cx="534924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24028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4688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59669"/>
                </a:solidFill>
                <a:latin typeface="Segoe UI Semibold"/>
              </a:rPr>
              <a:t>Session 1  ·  Monday</a:t>
            </a:r>
          </a:p>
        </p:txBody>
      </p:sp>
      <p:sp>
        <p:nvSpPr>
          <p:cNvPr id="16" name="Oval 15"/>
          <p:cNvSpPr/>
          <p:nvPr/>
        </p:nvSpPr>
        <p:spPr>
          <a:xfrm>
            <a:off x="996696" y="3035808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96696" y="299923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08152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Set up JWT auth with jose (Edge-compatible)</a:t>
            </a:r>
          </a:p>
        </p:txBody>
      </p:sp>
      <p:sp>
        <p:nvSpPr>
          <p:cNvPr id="19" name="Oval 18"/>
          <p:cNvSpPr/>
          <p:nvPr/>
        </p:nvSpPr>
        <p:spPr>
          <a:xfrm>
            <a:off x="996696" y="3675888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96696" y="363931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72160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Auth middleware lives in src/middleware/auth.ts</a:t>
            </a:r>
          </a:p>
        </p:txBody>
      </p:sp>
      <p:sp>
        <p:nvSpPr>
          <p:cNvPr id="22" name="Oval 21"/>
          <p:cNvSpPr/>
          <p:nvPr/>
        </p:nvSpPr>
        <p:spPr>
          <a:xfrm>
            <a:off x="996696" y="4315968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96696" y="427939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36168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Chose jose over jsonwebtoken — runtime constraint</a:t>
            </a:r>
          </a:p>
        </p:txBody>
      </p:sp>
      <p:sp>
        <p:nvSpPr>
          <p:cNvPr id="25" name="Oval 24"/>
          <p:cNvSpPr/>
          <p:nvPr/>
        </p:nvSpPr>
        <p:spPr>
          <a:xfrm>
            <a:off x="996696" y="4956048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96696" y="491947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500176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Redis sliding-window rate limiter wired up</a:t>
            </a:r>
          </a:p>
        </p:txBody>
      </p:sp>
      <p:sp>
        <p:nvSpPr>
          <p:cNvPr id="28" name="Oval 27"/>
          <p:cNvSpPr/>
          <p:nvPr/>
        </p:nvSpPr>
        <p:spPr>
          <a:xfrm>
            <a:off x="996696" y="5596128"/>
            <a:ext cx="292608" cy="29260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6696" y="555955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64184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Fixed N+1 on /api/users endpoint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240280"/>
            <a:ext cx="534924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217920" y="224028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37960" y="24688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Session 2  ·  Friday  →  same agent, no memory</a:t>
            </a:r>
          </a:p>
        </p:txBody>
      </p:sp>
      <p:sp>
        <p:nvSpPr>
          <p:cNvPr id="34" name="Oval 33"/>
          <p:cNvSpPr/>
          <p:nvPr/>
        </p:nvSpPr>
        <p:spPr>
          <a:xfrm>
            <a:off x="6574536" y="303580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74536" y="299923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308152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What auth library are we using?</a:t>
            </a:r>
          </a:p>
        </p:txBody>
      </p:sp>
      <p:sp>
        <p:nvSpPr>
          <p:cNvPr id="37" name="Oval 36"/>
          <p:cNvSpPr/>
          <p:nvPr/>
        </p:nvSpPr>
        <p:spPr>
          <a:xfrm>
            <a:off x="6574536" y="367588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574536" y="363931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040880" y="372160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Where does the auth middleware live?</a:t>
            </a:r>
          </a:p>
        </p:txBody>
      </p:sp>
      <p:sp>
        <p:nvSpPr>
          <p:cNvPr id="40" name="Oval 39"/>
          <p:cNvSpPr/>
          <p:nvPr/>
        </p:nvSpPr>
        <p:spPr>
          <a:xfrm>
            <a:off x="6574536" y="431596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74536" y="427939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436168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Why did we pick jose?</a:t>
            </a:r>
          </a:p>
        </p:txBody>
      </p:sp>
      <p:sp>
        <p:nvSpPr>
          <p:cNvPr id="43" name="Oval 42"/>
          <p:cNvSpPr/>
          <p:nvPr/>
        </p:nvSpPr>
        <p:spPr>
          <a:xfrm>
            <a:off x="6574536" y="495604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74536" y="491947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0880" y="500176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Do we have a rate limiter?</a:t>
            </a:r>
          </a:p>
        </p:txBody>
      </p:sp>
      <p:sp>
        <p:nvSpPr>
          <p:cNvPr id="46" name="Oval 45"/>
          <p:cNvSpPr/>
          <p:nvPr/>
        </p:nvSpPr>
        <p:spPr>
          <a:xfrm>
            <a:off x="6574536" y="5596128"/>
            <a:ext cx="292608" cy="292608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574536" y="5559552"/>
            <a:ext cx="292608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FFFFFF"/>
                </a:solidFill>
                <a:latin typeface="Segoe UI Semibold"/>
              </a:rPr>
              <a:t>?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641848"/>
            <a:ext cx="4343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334155"/>
                </a:solidFill>
                <a:latin typeface="Segoe UI"/>
              </a:rPr>
              <a:t>Any known performance issues?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519672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Re-explaining wastes 10–20 minutes and thousands of tokens at the start of every new session.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What You Re-explain Every Session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The cost is hidden but compounds — every session, every project, every developer.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03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20240"/>
            <a:ext cx="365760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20240"/>
            <a:ext cx="54864" cy="141732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2212848"/>
            <a:ext cx="164592" cy="16459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188720" y="215798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578608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Module boundaries · service layout · monorepo structure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60" y="1920240"/>
            <a:ext cx="365760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4480560" y="1920240"/>
            <a:ext cx="54864" cy="141732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4754880" y="2212848"/>
            <a:ext cx="164592" cy="16459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0" y="215798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Library choices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578608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Why jose not jsonwebtoken · async-std not tokio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920240"/>
            <a:ext cx="365760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8321040" y="1920240"/>
            <a:ext cx="54864" cy="141732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8595360" y="2212848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869680" y="215798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Team conventions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578608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Test-first · no DB mocks · functional style preferred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3520440"/>
            <a:ext cx="365760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40080" y="3520440"/>
            <a:ext cx="54864" cy="141732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914400" y="3813048"/>
            <a:ext cx="164592" cy="164592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88720" y="375818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Bug history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178808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Fixed issues · known edge cases · workarounds applied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480560" y="3520440"/>
            <a:ext cx="365760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4480560" y="3520440"/>
            <a:ext cx="54864" cy="141732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4754880" y="3813048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029200" y="375818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Auth &amp; security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4178808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Middleware location · JWT strategy · session handling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321040" y="3520440"/>
            <a:ext cx="3657600" cy="1417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321040" y="3520440"/>
            <a:ext cx="54864" cy="141732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8595360" y="3813048"/>
            <a:ext cx="164592" cy="164592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869680" y="3758184"/>
            <a:ext cx="29260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Deployment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178808"/>
            <a:ext cx="320040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Env vars · infra constraints · deploy script patterns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0080" y="52120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Segoe UI Semibold"/>
              </a:rPr>
              <a:t>The compounding cost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577840"/>
            <a:ext cx="3657600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40080" y="574243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2563EB"/>
                </a:solidFill>
                <a:latin typeface="Segoe UI Semibold"/>
              </a:rPr>
              <a:t>10–20m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2910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Lost per session start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480560" y="5577840"/>
            <a:ext cx="3657600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4480560" y="574243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7C3AED"/>
                </a:solidFill>
                <a:latin typeface="Segoe UI Semibold"/>
              </a:rPr>
              <a:t>22,000+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480560" y="62910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Tokens to paste 240 obs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321040" y="5577840"/>
            <a:ext cx="3657600" cy="960120"/>
          </a:xfrm>
          <a:prstGeom prst="roundRect">
            <a:avLst>
              <a:gd name="adj" fmla="val 4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321040" y="5742432"/>
            <a:ext cx="36576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DC2626"/>
                </a:solidFill>
                <a:latin typeface="Segoe UI Semibold"/>
              </a:rPr>
              <a:t>$500+/yr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629107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Cost of LLM-summarized memory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The Static File Trap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CLAUDE.md, .cursorrules, .windsurfrules — they all hit the same wall.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04  /  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2057400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94A3B8"/>
                </a:solidFill>
                <a:latin typeface="Segoe UI Light"/>
              </a:rPr>
              <a:t>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280160" y="2011680"/>
            <a:ext cx="18288" cy="6400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463040" y="2057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Manual to maintain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237744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You write it. You keep it current. It never updates itself.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898648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94A3B8"/>
                </a:solidFill>
                <a:latin typeface="Segoe UI Light"/>
              </a:rPr>
              <a:t>02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2852928"/>
            <a:ext cx="18288" cy="6400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463040" y="2898648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Truncated at ~200 lines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63040" y="3218688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Anything past the limit is invisible to the agent.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739896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94A3B8"/>
                </a:solidFill>
                <a:latin typeface="Segoe UI Light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280160" y="3694176"/>
            <a:ext cx="18288" cy="6400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463040" y="3739896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No retrieval logic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059936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Entire file loaded into context whether relevant or not.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4581144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94A3B8"/>
                </a:solidFill>
                <a:latin typeface="Segoe UI Light"/>
              </a:rPr>
              <a:t>04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80160" y="4535424"/>
            <a:ext cx="18288" cy="6400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463040" y="4581144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Goes stale silently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4901184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Codebase evolves. The file doesn't. Stale context misleads.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422392"/>
            <a:ext cx="6400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0">
                <a:solidFill>
                  <a:srgbClr val="94A3B8"/>
                </a:solidFill>
                <a:latin typeface="Segoe UI Light"/>
              </a:rPr>
              <a:t>05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280160" y="5376672"/>
            <a:ext cx="18288" cy="64008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463040" y="5422392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Single-agent only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463040" y="5742432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CLAUDE.md serves Claude Code. Copilot, Cursor, Codex — they see nothing.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THE PROBLEM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Existing Solutions Fall Short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Nothing on the market was built for the coding-agent use case end-to-end.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05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3657600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mem0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606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4748B"/>
                </a:solidFill>
                <a:latin typeface="Segoe UI"/>
              </a:rPr>
              <a:t>53K ★ on GitHub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14400" y="3017520"/>
            <a:ext cx="310896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14400" y="324612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32644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Requires manual add()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74904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376732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No automatic capture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25196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42702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Must instrument every step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475488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47731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No hook-based integration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5780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2760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No multi-agent coordination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62272" y="196596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4462272" y="1965960"/>
            <a:ext cx="3657600" cy="6400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736592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Letta / MemGPT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36592" y="2606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4748B"/>
                </a:solidFill>
                <a:latin typeface="Segoe UI"/>
              </a:rPr>
              <a:t>22K ★ on GitHub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736592" y="3017520"/>
            <a:ext cx="310896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4736592" y="324612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10912" y="32644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Full runtime replacement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6592" y="374904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10912" y="376732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High framework lock-in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36592" y="425196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10912" y="42702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Can't use your existing agent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36592" y="475488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10912" y="47731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Requires re-architecting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36592" y="525780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10912" y="52760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Not cross-agent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84464" y="1965960"/>
            <a:ext cx="3657600" cy="41605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8284464" y="1965960"/>
            <a:ext cx="3657600" cy="640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558784" y="224028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Static files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58784" y="2606040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64748B"/>
                </a:solidFill>
                <a:latin typeface="Segoe UI"/>
              </a:rPr>
              <a:t>CLAUDE.md · .cursorrules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558784" y="3017520"/>
            <a:ext cx="3108960" cy="0"/>
          </a:xfrm>
          <a:prstGeom prst="line">
            <a:avLst/>
          </a:prstGeom>
          <a:ln w="12700">
            <a:solidFill>
              <a:srgbClr val="E2E8F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8558784" y="324612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833104" y="326440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Manual maintenance burden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58784" y="374904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33104" y="376732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Truncates at ~200 lines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58784" y="425196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833104" y="427024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No smart retrieval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58784" y="475488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33104" y="477316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Single-agent only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58784" y="5257800"/>
            <a:ext cx="228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C2626"/>
                </a:solidFill>
                <a:latin typeface="Segoe UI Semibold"/>
              </a:rPr>
              <a:t>✗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33104" y="5276088"/>
            <a:ext cx="29260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Goes stale silently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" y="6327648"/>
            <a:ext cx="10908792" cy="292608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640080" y="6355080"/>
            <a:ext cx="1090879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The gap: automatic capture · cross-agent · zero external DBs · smart retrieval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0408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0408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08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408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408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352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352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352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6352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352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82396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2396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2396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2396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2396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1832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1832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41832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1832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1832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126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0126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0126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0126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126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070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070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070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6070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070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2014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014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014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014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014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109728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DBEAFE"/>
                </a:solidFill>
                <a:latin typeface="Segoe UI Light"/>
              </a:rPr>
              <a:t>02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B82F6"/>
                </a:solidFill>
                <a:latin typeface="Segoe UI Semibold"/>
              </a:rPr>
              <a:t>SECTION 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474720"/>
            <a:ext cx="6400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 Semibold"/>
              </a:rPr>
              <a:t>Introducing agentmemory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29200"/>
            <a:ext cx="5943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BD5E1"/>
                </a:solidFill>
                <a:latin typeface="Segoe UI"/>
              </a:rPr>
              <a:t>Automatic capture · Smart retrieval · Zero friction.
What it is and how it fits in.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48640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agentmemory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INTRODUCING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What Is agentmemory?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A persistent memory engine that fits into your existing agent — no rewrite, no lock-in.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07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20240"/>
            <a:ext cx="534924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6112" y="2267712"/>
            <a:ext cx="768096" cy="7680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468880"/>
            <a:ext cx="7680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24028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72A"/>
                </a:solidFill>
                <a:latin typeface="Segoe UI Semibold"/>
              </a:rPr>
              <a:t>Automatic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43200"/>
            <a:ext cx="3794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12 lifecycle hooks capture observations on every tool use. Zero manual add() calls.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20240"/>
            <a:ext cx="534924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73952" y="2267712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2468880"/>
            <a:ext cx="7680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24028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72A"/>
                </a:solidFill>
                <a:latin typeface="Segoe UI Semibold"/>
              </a:rPr>
              <a:t>Cross-agent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743200"/>
            <a:ext cx="3794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One memory store for Claude Code, Copilot CLI, Cursor, Codex, Gemini CLI, and 10+ more.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160520"/>
            <a:ext cx="534924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96112" y="4507992"/>
            <a:ext cx="768096" cy="7680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709160"/>
            <a:ext cx="7680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48056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72A"/>
                </a:solidFill>
                <a:latin typeface="Segoe UI Semibold"/>
              </a:rPr>
              <a:t>Smart retrieval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4983480"/>
            <a:ext cx="3794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Hybrid BM25 + Vector + Graph search. 95.2% R@5 on LongMemEval-S (ICLR 2025).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160520"/>
            <a:ext cx="534924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73952" y="4507992"/>
            <a:ext cx="768096" cy="76809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4709160"/>
            <a:ext cx="7680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480560"/>
            <a:ext cx="379476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F172A"/>
                </a:solidFill>
                <a:latin typeface="Segoe UI Semibold"/>
              </a:rPr>
              <a:t>Zero dependencies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4983480"/>
            <a:ext cx="3794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64748B"/>
                </a:solidFill>
                <a:latin typeface="Segoe UI"/>
              </a:rPr>
              <a:t>SQLite only. No Qdrant, no pgvector, no Postgres. Runs offline.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INTRODUCING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How It Fixes the Problem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A four-stage pipeline: capture → consolidate → retrieve → inject.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08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" y="2103120"/>
            <a:ext cx="26060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09447" y="21031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638147" y="2514600"/>
            <a:ext cx="548640" cy="5486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638147" y="2551176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9447" y="32004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F172A"/>
                </a:solidFill>
                <a:latin typeface="Segoe UI Semibold"/>
              </a:rPr>
              <a:t>Capture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32407" y="3730752"/>
            <a:ext cx="960120" cy="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38047" y="393192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Hooks fire on every tool use.
Dedup + privacy filter applied.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33775" y="33832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4A3B8"/>
                </a:solidFill>
                <a:latin typeface="Segoe UI Semibold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398367" y="2103120"/>
            <a:ext cx="26060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398367" y="21031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4427067" y="251460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27067" y="2551176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98367" y="32004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F172A"/>
                </a:solidFill>
                <a:latin typeface="Segoe UI Semibold"/>
              </a:rPr>
              <a:t>Consolidate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221327" y="3730752"/>
            <a:ext cx="960120" cy="0"/>
          </a:xfrm>
          <a:prstGeom prst="line">
            <a:avLst/>
          </a:prstGeom>
          <a:ln w="25400">
            <a:solidFill>
              <a:srgbClr val="7C3AED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626967" y="393192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4-tier memory: Working → Episodic
→ Semantic → Procedural.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22695" y="33832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4A3B8"/>
                </a:solidFill>
                <a:latin typeface="Segoe UI Semibold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87287" y="2103120"/>
            <a:ext cx="26060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187287" y="21031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215987" y="2514600"/>
            <a:ext cx="548640" cy="5486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215987" y="2551176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87287" y="32004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F172A"/>
                </a:solidFill>
                <a:latin typeface="Segoe UI Semibold"/>
              </a:rPr>
              <a:t>Retrieve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010247" y="3730752"/>
            <a:ext cx="960120" cy="0"/>
          </a:xfrm>
          <a:prstGeom prst="line">
            <a:avLst/>
          </a:prstGeom>
          <a:ln w="25400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415887" y="393192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Triple-stream hybrid search.
BM25 + Vector + Graph, RRF-fused.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811615" y="33832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94A3B8"/>
                </a:solidFill>
                <a:latin typeface="Segoe UI Semibold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76207" y="2103120"/>
            <a:ext cx="2606040" cy="2926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976207" y="210312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004907" y="2514600"/>
            <a:ext cx="548640" cy="5486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0004907" y="2551176"/>
            <a:ext cx="548640" cy="4754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76207" y="3200400"/>
            <a:ext cx="2606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0F172A"/>
                </a:solidFill>
                <a:latin typeface="Segoe UI Semibold"/>
              </a:rPr>
              <a:t>Inject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9799167" y="3730752"/>
            <a:ext cx="960120" cy="0"/>
          </a:xfrm>
          <a:prstGeom prst="line">
            <a:avLst/>
          </a:prstGeom>
          <a:ln w="25400">
            <a:solidFill>
              <a:srgbClr val="D9770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9204807" y="3931920"/>
            <a:ext cx="214884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~1,900 tokens of relevant context.
Token-budgeted at session start.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5349240"/>
            <a:ext cx="10908792" cy="91440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822960" y="54864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RESULT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" y="5760720"/>
            <a:ext cx="10607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F172A"/>
                </a:solidFill>
                <a:latin typeface="Segoe UI"/>
              </a:rPr>
              <a:t>Every session begins with full project context — no re-explaining, no wasted tokens.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INTRODUCING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Quick Start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Four commands to a fully wired memory backend across your agents.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09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2011680"/>
            <a:ext cx="7772400" cy="356616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2011680"/>
            <a:ext cx="7772400" cy="29260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210312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1832" y="210312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6424" y="210312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205740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4A3B8"/>
                </a:solidFill>
                <a:latin typeface="Consolas"/>
              </a:rPr>
              <a:t>terminal — install &amp; wire up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304288"/>
            <a:ext cx="7315200" cy="318211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300">
                <a:solidFill>
                  <a:srgbClr val="64748B"/>
                </a:solidFill>
                <a:latin typeface="Consolas"/>
              </a:rPr>
              <a:t># 1. Install globally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0A5FA"/>
                </a:solidFill>
                <a:latin typeface="Consolas"/>
              </a:rPr>
              <a:t>npm</a:t>
            </a:r>
            <a:r>
              <a:rPr sz="1300">
                <a:solidFill>
                  <a:srgbClr val="E2E8F0"/>
                </a:solidFill>
                <a:latin typeface="Consolas"/>
              </a:rPr>
              <a:t> install </a:t>
            </a:r>
            <a:r>
              <a:rPr sz="1300">
                <a:solidFill>
                  <a:srgbClr val="FBBF24"/>
                </a:solidFill>
                <a:latin typeface="Consolas"/>
              </a:rPr>
              <a:t>-g</a:t>
            </a:r>
            <a:r>
              <a:rPr sz="1300">
                <a:solidFill>
                  <a:srgbClr val="E2E8F0"/>
                </a:solidFill>
                <a:latin typeface="Consolas"/>
              </a:rPr>
              <a:t> @agentmemory/agentmemory</a:t>
            </a:r>
          </a:p>
          <a:p>
            <a:pPr>
              <a:lnSpc>
                <a:spcPct val="125000"/>
              </a:lnSpc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4748B"/>
                </a:solidFill>
                <a:latin typeface="Consolas"/>
              </a:rPr>
              <a:t># 2. Start the memory server (port 3111)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0A5FA"/>
                </a:solidFill>
                <a:latin typeface="Consolas"/>
              </a:rPr>
              <a:t>agentmemory</a:t>
            </a:r>
          </a:p>
          <a:p>
            <a:pPr>
              <a:lnSpc>
                <a:spcPct val="125000"/>
              </a:lnSpc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4748B"/>
                </a:solidFill>
                <a:latin typeface="Consolas"/>
              </a:rPr>
              <a:t># 3. Seed sample sessions and verify recall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0A5FA"/>
                </a:solidFill>
                <a:latin typeface="Consolas"/>
              </a:rPr>
              <a:t>agentmemory</a:t>
            </a:r>
            <a:r>
              <a:rPr sz="1300">
                <a:solidFill>
                  <a:srgbClr val="E2E8F0"/>
                </a:solidFill>
                <a:latin typeface="Consolas"/>
              </a:rPr>
              <a:t> demo</a:t>
            </a:r>
          </a:p>
          <a:p>
            <a:pPr>
              <a:lnSpc>
                <a:spcPct val="125000"/>
              </a:lnSpc>
            </a:pPr>
            <a:r>
              <a:rPr sz="1300"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4748B"/>
                </a:solidFill>
                <a:latin typeface="Consolas"/>
              </a:rPr>
              <a:t># 4. Wire MCP + 12 hooks into your agent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0A5FA"/>
                </a:solidFill>
                <a:latin typeface="Consolas"/>
              </a:rPr>
              <a:t>agentmemory</a:t>
            </a:r>
            <a:r>
              <a:rPr sz="1300">
                <a:solidFill>
                  <a:srgbClr val="E2E8F0"/>
                </a:solidFill>
                <a:latin typeface="Consolas"/>
              </a:rPr>
              <a:t> connect claude</a:t>
            </a:r>
            <a:r>
              <a:rPr sz="1300">
                <a:solidFill>
                  <a:srgbClr val="FBBF24"/>
                </a:solidFill>
                <a:latin typeface="Consolas"/>
              </a:rPr>
              <a:t>-code</a:t>
            </a:r>
          </a:p>
          <a:p>
            <a:pPr>
              <a:lnSpc>
                <a:spcPct val="125000"/>
              </a:lnSpc>
            </a:pPr>
            <a:r>
              <a:rPr sz="1300">
                <a:solidFill>
                  <a:srgbClr val="64748B"/>
                </a:solidFill>
                <a:latin typeface="Consolas"/>
              </a:rPr>
              <a:t># Also: copilot-cli  codex  cursor  gemini-cli  opencode  ...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641080" y="2011680"/>
            <a:ext cx="2926080" cy="35661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869680" y="2240280"/>
            <a:ext cx="2468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What happens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69680" y="2651760"/>
            <a:ext cx="457200" cy="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8869680" y="29900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052560" y="28803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connect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310896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Writes MCP config to .claude/settings.json</a:t>
            </a:r>
          </a:p>
        </p:txBody>
      </p:sp>
      <p:sp>
        <p:nvSpPr>
          <p:cNvPr id="26" name="Oval 25"/>
          <p:cNvSpPr/>
          <p:nvPr/>
        </p:nvSpPr>
        <p:spPr>
          <a:xfrm>
            <a:off x="8869680" y="363016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352044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12 hooks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374904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Installed automatically for the agent</a:t>
            </a:r>
          </a:p>
        </p:txBody>
      </p:sp>
      <p:sp>
        <p:nvSpPr>
          <p:cNvPr id="29" name="Oval 28"/>
          <p:cNvSpPr/>
          <p:nvPr/>
        </p:nvSpPr>
        <p:spPr>
          <a:xfrm>
            <a:off x="8869680" y="427024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052560" y="41605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Skills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52560" y="438912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8 native skills installed via npx</a:t>
            </a:r>
          </a:p>
        </p:txBody>
      </p:sp>
      <p:sp>
        <p:nvSpPr>
          <p:cNvPr id="32" name="Oval 31"/>
          <p:cNvSpPr/>
          <p:nvPr/>
        </p:nvSpPr>
        <p:spPr>
          <a:xfrm>
            <a:off x="8869680" y="491032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052560" y="48006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Viewer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5029200"/>
            <a:ext cx="237744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Live UI available at :3113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85216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>
                <a:solidFill>
                  <a:srgbClr val="64748B"/>
                </a:solidFill>
                <a:latin typeface="Segoe UI"/>
              </a:rPr>
              <a:t>Total time to value: ~90 seconds.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0408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0408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08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408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408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352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352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352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6352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352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82396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2396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2396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2396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2396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1832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1832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41832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1832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1832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126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0126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0126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0126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126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070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070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070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6070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070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2014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014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014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014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014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109728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DBEAFE"/>
                </a:solidFill>
                <a:latin typeface="Segoe UI Light"/>
              </a:rPr>
              <a:t>03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B82F6"/>
                </a:solidFill>
                <a:latin typeface="Segoe UI Semibold"/>
              </a:rPr>
              <a:t>SECTION 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474720"/>
            <a:ext cx="6400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 Semibold"/>
              </a:rPr>
              <a:t>Architecture Deep Dive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29200"/>
            <a:ext cx="5943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BD5E1"/>
                </a:solidFill>
                <a:latin typeface="Segoe UI"/>
              </a:rPr>
              <a:t>How it works under the hood.
Hooks · pipeline · 4-tier memory · hybrid search.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48640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agentmemory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System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Three integration surfaces, one engine, one SQLite file. No external services.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10  /  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1581911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4748B"/>
                </a:solidFill>
                <a:latin typeface="Segoe UI Semibold"/>
              </a:rPr>
              <a:t>AGENT ECOSYSTEM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40967" y="1874519"/>
            <a:ext cx="1508760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40967" y="1993391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Claude Code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41167" y="1874519"/>
            <a:ext cx="1508760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941167" y="1993391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Copilot CLI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41367" y="1874519"/>
            <a:ext cx="1508760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41367" y="1993391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Cursor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41567" y="1874519"/>
            <a:ext cx="1508760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141567" y="1993391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Codex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741767" y="1874519"/>
            <a:ext cx="1508760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41767" y="1993391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Gemini CLI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41967" y="1874519"/>
            <a:ext cx="1508760" cy="502920"/>
          </a:xfrm>
          <a:prstGeom prst="roundRect">
            <a:avLst>
              <a:gd name="adj" fmla="val 1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341967" y="1993391"/>
            <a:ext cx="1508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FFFFFF"/>
                </a:solidFill>
                <a:latin typeface="Segoe UI Semibold"/>
              </a:rPr>
              <a:t>OpenCode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2450592"/>
            <a:ext cx="3657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64748B"/>
                </a:solidFill>
                <a:latin typeface="Segoe UI Semibold"/>
              </a:rPr>
              <a:t>INTEGRATION SURFACES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92327" y="2743200"/>
            <a:ext cx="32918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92327" y="281635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563EB"/>
                </a:solidFill>
                <a:latin typeface="Segoe UI Semibold"/>
              </a:rPr>
              <a:t>12 Lifecycle Hooks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2327" y="310896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auto-capture on every tool use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449927" y="2743200"/>
            <a:ext cx="32918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7C3AE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49927" y="281635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7C3AED"/>
                </a:solidFill>
                <a:latin typeface="Segoe UI Semibold"/>
              </a:rPr>
              <a:t>MCP Server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49927" y="310896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53 tools · Model Context Protocol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07527" y="2743200"/>
            <a:ext cx="3291840" cy="640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0891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107527" y="2816352"/>
            <a:ext cx="32918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891B2"/>
                </a:solidFill>
                <a:latin typeface="Segoe UI Semibold"/>
              </a:rPr>
              <a:t>REST API  ·  :3111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07527" y="3108960"/>
            <a:ext cx="3291840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language-agnostic integration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438247" y="2377439"/>
            <a:ext cx="0" cy="365761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095847" y="2377439"/>
            <a:ext cx="0" cy="365761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9753447" y="2377439"/>
            <a:ext cx="0" cy="365761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1158087" y="3794760"/>
            <a:ext cx="9875520" cy="1417320"/>
          </a:xfrm>
          <a:prstGeom prst="roundRect">
            <a:avLst>
              <a:gd name="adj" fmla="val 4000"/>
            </a:avLst>
          </a:prstGeom>
          <a:solidFill>
            <a:srgbClr val="EFF6FF"/>
          </a:solidFill>
          <a:ln w="1905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158087" y="3904488"/>
            <a:ext cx="98755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Segoe UI Semibold"/>
              </a:rPr>
              <a:t>AGENTMEMORY CORE  ·  iii-engine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67815" y="4297680"/>
            <a:ext cx="23317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1267815" y="44074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Capture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267815" y="47091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dedup · privacy filter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745839" y="4297680"/>
            <a:ext cx="23317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3745839" y="44074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Processing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745839" y="47091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compress · embed · index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23863" y="4297680"/>
            <a:ext cx="23317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23863" y="44074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Retrieval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223863" y="47091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BM25 + Vector + Graph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01887" y="4297680"/>
            <a:ext cx="2331720" cy="822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BEA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8701887" y="4407408"/>
            <a:ext cx="2331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Management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701887" y="4709160"/>
            <a:ext cx="2331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decay · leases · multi-agent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2438247" y="3383280"/>
            <a:ext cx="0" cy="41148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6095847" y="3383280"/>
            <a:ext cx="0" cy="41148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753447" y="3383280"/>
            <a:ext cx="0" cy="41148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792327" y="5486400"/>
            <a:ext cx="32918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ounded Rectangle 56"/>
          <p:cNvSpPr/>
          <p:nvPr/>
        </p:nvSpPr>
        <p:spPr>
          <a:xfrm>
            <a:off x="792327" y="5486400"/>
            <a:ext cx="64008" cy="77724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75207" y="559612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⬢ SQLite  ·  ~/.agentmemory/memory.db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75207" y="589788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single-file storage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449927" y="5486400"/>
            <a:ext cx="32918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4449927" y="5486400"/>
            <a:ext cx="64008" cy="77724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4632807" y="559612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◐ Real-time Viewer  ·  :3113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632807" y="589788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live observation stream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107527" y="5486400"/>
            <a:ext cx="3291840" cy="777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8107527" y="5486400"/>
            <a:ext cx="64008" cy="77724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8290407" y="5596128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⌘ iii Console  ·  :3114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90407" y="5897880"/>
            <a:ext cx="292608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64748B"/>
                </a:solidFill>
                <a:latin typeface="Segoe UI"/>
              </a:rPr>
              <a:t>full operation trace</a:t>
            </a:r>
          </a:p>
        </p:txBody>
      </p:sp>
      <p:cxnSp>
        <p:nvCxnSpPr>
          <p:cNvPr id="68" name="Connector 67"/>
          <p:cNvCxnSpPr/>
          <p:nvPr/>
        </p:nvCxnSpPr>
        <p:spPr>
          <a:xfrm>
            <a:off x="6095847" y="5212080"/>
            <a:ext cx="0" cy="274320"/>
          </a:xfrm>
          <a:prstGeom prst="bentConnector3">
            <a:avLst/>
          </a:prstGeom>
          <a:ln w="19050">
            <a:solidFill>
              <a:srgbClr val="CBD5E1"/>
            </a:solidFill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The 12 Lifecycle Hooks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Every tool use fires a hook — zero manual instrumentation, full coverage.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11  /  34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1965960"/>
          <a:ext cx="10908792" cy="4224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7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Hook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When it fires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What it captures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SessionStart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Agent boots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Project path, session ID, environment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UserPromptSubmit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User sends a prompt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Prompt text (privacy-filtered)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PreToolUse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Before tool execution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File access patterns, enriched context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PostToolUse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After tool execution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Tool name, input params, full output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PostToolUseFailure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Tool errors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Error message, stack, debugging info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PreCompact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Before context compaction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Re-injects relevant memory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SubagentStart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Nested agent begins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Inherits parent memory scope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SubagentStop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Nested agent ends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Merges observations back to parent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Stop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Agent session ending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Triggers session summary generation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0F172A"/>
                          </a:solidFill>
                          <a:latin typeface="Segoe UI"/>
                        </a:rPr>
                        <a:t>SessionEnd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Session fully complete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0">
                          <a:solidFill>
                            <a:srgbClr val="334155"/>
                          </a:solidFill>
                          <a:latin typeface="Segoe UI"/>
                        </a:rPr>
                        <a:t>Runs 4-tier consolidation + graph extract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Memory Capture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From PostToolUse to indexed memory in one async flow.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12  /  34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066544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10312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60704" y="1965960"/>
            <a:ext cx="102412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1060704" y="1965960"/>
            <a:ext cx="64008" cy="5669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289304" y="20391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Hook fires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58184" y="207568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PostToolUse intercepts every tool result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" y="2724912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2761488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0704" y="2624328"/>
            <a:ext cx="102412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1060704" y="2624328"/>
            <a:ext cx="64008" cy="566928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89304" y="269748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Dedup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58184" y="273405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SHA-256 hash · 5-minute window</a:t>
            </a:r>
          </a:p>
        </p:txBody>
      </p:sp>
      <p:sp>
        <p:nvSpPr>
          <p:cNvPr id="25" name="Oval 24"/>
          <p:cNvSpPr/>
          <p:nvPr/>
        </p:nvSpPr>
        <p:spPr>
          <a:xfrm>
            <a:off x="640080" y="3383280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3419856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60704" y="3282696"/>
            <a:ext cx="102412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1060704" y="3282696"/>
            <a:ext cx="64008" cy="56692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89304" y="335584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Privacy filter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58184" y="3392424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Strip API keys, secrets, &lt;private&gt; tags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4041648"/>
            <a:ext cx="365760" cy="36576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0080" y="4078224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60704" y="3941064"/>
            <a:ext cx="102412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1060704" y="3941064"/>
            <a:ext cx="64008" cy="566928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289304" y="401421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Store raw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58184" y="4050792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Write observation row to SQLite</a:t>
            </a:r>
          </a:p>
        </p:txBody>
      </p:sp>
      <p:sp>
        <p:nvSpPr>
          <p:cNvPr id="37" name="Oval 36"/>
          <p:cNvSpPr/>
          <p:nvPr/>
        </p:nvSpPr>
        <p:spPr>
          <a:xfrm>
            <a:off x="640080" y="4700016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4736592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060704" y="4599432"/>
            <a:ext cx="102412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1060704" y="4599432"/>
            <a:ext cx="64008" cy="566928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289304" y="467258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LLM compress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758184" y="470916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Extract facts · concepts · narrative</a:t>
            </a:r>
          </a:p>
        </p:txBody>
      </p:sp>
      <p:sp>
        <p:nvSpPr>
          <p:cNvPr id="43" name="Oval 42"/>
          <p:cNvSpPr/>
          <p:nvPr/>
        </p:nvSpPr>
        <p:spPr>
          <a:xfrm>
            <a:off x="640080" y="5358384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0080" y="539496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1060704" y="5257800"/>
            <a:ext cx="102412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1060704" y="5257800"/>
            <a:ext cx="64008" cy="56692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289304" y="533095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Embed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758184" y="5367528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Vector via 6-provider fallback chain</a:t>
            </a:r>
          </a:p>
        </p:txBody>
      </p:sp>
      <p:sp>
        <p:nvSpPr>
          <p:cNvPr id="49" name="Oval 48"/>
          <p:cNvSpPr/>
          <p:nvPr/>
        </p:nvSpPr>
        <p:spPr>
          <a:xfrm>
            <a:off x="640080" y="6016752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0080" y="6053328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7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60704" y="5916168"/>
            <a:ext cx="10241280" cy="56692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ounded Rectangle 51"/>
          <p:cNvSpPr/>
          <p:nvPr/>
        </p:nvSpPr>
        <p:spPr>
          <a:xfrm>
            <a:off x="1060704" y="5916168"/>
            <a:ext cx="64008" cy="56692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1289304" y="598932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Index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58184" y="6025896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BM25 shards + HNSW vector index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The 4-Tier Memory Model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Inspired by human sleep-based memory consolidation — neuroscience meets agent design.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13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10908792" cy="868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54864" cy="8686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68680" y="2148840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2563EB"/>
                </a:solidFill>
                <a:latin typeface="Segoe UI Light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07568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Working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423160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563EB"/>
                </a:solidFill>
                <a:latin typeface="Segoe UI"/>
              </a:rPr>
              <a:t>Short-term memory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2112264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4A3B8"/>
                </a:solidFill>
                <a:latin typeface="Segoe UI Semibold"/>
              </a:rPr>
              <a:t>WHAT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2331720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Raw tool observations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20" y="2112264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4A3B8"/>
                </a:solidFill>
                <a:latin typeface="Segoe UI Semibold"/>
              </a:rPr>
              <a:t>LIFECYCLE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331720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5-min session window · decays on inactivity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2944368"/>
            <a:ext cx="10908792" cy="868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40080" y="2944368"/>
            <a:ext cx="54864" cy="8686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68680" y="312724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7C3AED"/>
                </a:solidFill>
                <a:latin typeface="Segoe UI Light"/>
              </a:rPr>
              <a:t>02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305409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Episodic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3401568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C3AED"/>
                </a:solidFill>
                <a:latin typeface="Segoe UI"/>
              </a:rPr>
              <a:t>"What happened"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3090672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4A3B8"/>
                </a:solidFill>
                <a:latin typeface="Segoe UI Semibold"/>
              </a:rPr>
              <a:t>WHAT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3310128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Compressed session summaries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3090672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4A3B8"/>
                </a:solidFill>
                <a:latin typeface="Segoe UI Semibold"/>
              </a:rPr>
              <a:t>LIFECYCLE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3310128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Per-session stories · distilled from working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" y="3922776"/>
            <a:ext cx="10908792" cy="868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640080" y="3922776"/>
            <a:ext cx="54864" cy="8686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4105656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059669"/>
                </a:solidFill>
                <a:latin typeface="Segoe UI Light"/>
              </a:rPr>
              <a:t>03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03250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Semantic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4379976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59669"/>
                </a:solidFill>
                <a:latin typeface="Segoe UI"/>
              </a:rPr>
              <a:t>"What I know"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0" y="4069080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4A3B8"/>
                </a:solidFill>
                <a:latin typeface="Segoe UI Semibold"/>
              </a:rPr>
              <a:t>WHAT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0" y="4288536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Extracted facts &amp; patterns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89520" y="4069080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4A3B8"/>
                </a:solidFill>
                <a:latin typeface="Segoe UI Semibold"/>
              </a:rPr>
              <a:t>LIFECYCLE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20" y="4288536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Persistent · grows over time · cross-session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4901184"/>
            <a:ext cx="10908792" cy="868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640080" y="4901184"/>
            <a:ext cx="54864" cy="86868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68680" y="5084064"/>
            <a:ext cx="6400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0" i="0">
                <a:solidFill>
                  <a:srgbClr val="D97706"/>
                </a:solidFill>
                <a:latin typeface="Segoe UI Light"/>
              </a:rPr>
              <a:t>04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54480" y="5010912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Procedural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554480" y="5358384"/>
            <a:ext cx="2286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D97706"/>
                </a:solidFill>
                <a:latin typeface="Segoe UI"/>
              </a:rPr>
              <a:t>"How to do it"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114800" y="5047488"/>
            <a:ext cx="3200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4A3B8"/>
                </a:solidFill>
                <a:latin typeface="Segoe UI Semibold"/>
              </a:rPr>
              <a:t>WHAT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0" y="5266944"/>
            <a:ext cx="3200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Recurring workflows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89520" y="5047488"/>
            <a:ext cx="3840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4A3B8"/>
                </a:solidFill>
                <a:latin typeface="Segoe UI Semibold"/>
              </a:rPr>
              <a:t>LIFECYCLE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89520" y="5266944"/>
            <a:ext cx="38404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Detected from semantic pattern repetition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" y="603504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Memories flow upward as they are reinforced and compressed:  Working → Episodic → Semantic → Procedural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Decay &amp; Strengthening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Memories age, fade, and get reinforced — the Ebbinghaus forgetting curve, applied.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14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5349240" cy="4297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2402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DC2626"/>
                </a:solidFill>
                <a:latin typeface="Segoe UI Semibold"/>
              </a:rPr>
              <a:t>Forgetting (decay)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60120" y="2743200"/>
            <a:ext cx="640080" cy="0"/>
          </a:xfrm>
          <a:prstGeom prst="line">
            <a:avLst/>
          </a:prstGeom>
          <a:ln w="25400">
            <a:solidFill>
              <a:srgbClr val="DC2626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1005840" y="3127248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05840" y="306324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30632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Observations lose relevance over time (Ebbinghaus curve)</a:t>
            </a:r>
          </a:p>
        </p:txBody>
      </p:sp>
      <p:sp>
        <p:nvSpPr>
          <p:cNvPr id="20" name="Oval 19"/>
          <p:cNvSpPr/>
          <p:nvPr/>
        </p:nvSpPr>
        <p:spPr>
          <a:xfrm>
            <a:off x="1005840" y="3767328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05840" y="370332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370332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Per-memory decay weight: recent = high, old = low</a:t>
            </a:r>
          </a:p>
        </p:txBody>
      </p:sp>
      <p:sp>
        <p:nvSpPr>
          <p:cNvPr id="23" name="Oval 22"/>
          <p:cNvSpPr/>
          <p:nvPr/>
        </p:nvSpPr>
        <p:spPr>
          <a:xfrm>
            <a:off x="1005840" y="4407408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05840" y="434340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434340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Decay is per-memory, not per-session — key decisions stay alive</a:t>
            </a:r>
          </a:p>
        </p:txBody>
      </p:sp>
      <p:sp>
        <p:nvSpPr>
          <p:cNvPr id="26" name="Oval 25"/>
          <p:cNvSpPr/>
          <p:nvPr/>
        </p:nvSpPr>
        <p:spPr>
          <a:xfrm>
            <a:off x="1005840" y="5047488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005840" y="498348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98348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Memories at relevance floor become eviction candidates</a:t>
            </a:r>
          </a:p>
        </p:txBody>
      </p:sp>
      <p:sp>
        <p:nvSpPr>
          <p:cNvPr id="29" name="Oval 28"/>
          <p:cNvSpPr/>
          <p:nvPr/>
        </p:nvSpPr>
        <p:spPr>
          <a:xfrm>
            <a:off x="1005840" y="5687568"/>
            <a:ext cx="146304" cy="14630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1005840" y="562356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80160" y="562356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--quota flag triggers importance-based eviction on disk pressure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965960"/>
            <a:ext cx="5349240" cy="4297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6217920" y="1965960"/>
            <a:ext cx="53492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537960" y="2240280"/>
            <a:ext cx="4892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59669"/>
                </a:solidFill>
                <a:latin typeface="Segoe UI Semibold"/>
              </a:rPr>
              <a:t>Strengthening (reinforcement)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537960" y="2743200"/>
            <a:ext cx="640080" cy="0"/>
          </a:xfrm>
          <a:prstGeom prst="line">
            <a:avLst/>
          </a:prstGeom>
          <a:ln w="25400">
            <a:solidFill>
              <a:srgbClr val="05966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6583680" y="3127248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583680" y="306324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0" y="306324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Frequently retrieved memories get a weight boost</a:t>
            </a:r>
          </a:p>
        </p:txBody>
      </p:sp>
      <p:sp>
        <p:nvSpPr>
          <p:cNvPr id="39" name="Oval 38"/>
          <p:cNvSpPr/>
          <p:nvPr/>
        </p:nvSpPr>
        <p:spPr>
          <a:xfrm>
            <a:off x="6583680" y="3767328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583680" y="370332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0" y="370332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More recall = more accessible (positive feedback loop)</a:t>
            </a:r>
          </a:p>
        </p:txBody>
      </p:sp>
      <p:sp>
        <p:nvSpPr>
          <p:cNvPr id="42" name="Oval 41"/>
          <p:cNvSpPr/>
          <p:nvPr/>
        </p:nvSpPr>
        <p:spPr>
          <a:xfrm>
            <a:off x="6583680" y="4407408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80" y="434340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0" y="434340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Contradictions auto-detected and resolved</a:t>
            </a:r>
          </a:p>
        </p:txBody>
      </p:sp>
      <p:sp>
        <p:nvSpPr>
          <p:cNvPr id="45" name="Oval 44"/>
          <p:cNvSpPr/>
          <p:nvPr/>
        </p:nvSpPr>
        <p:spPr>
          <a:xfrm>
            <a:off x="6583680" y="5047488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583680" y="498348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858000" y="498348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Supersession: newer fact replaces older one on same topic</a:t>
            </a:r>
          </a:p>
        </p:txBody>
      </p:sp>
      <p:sp>
        <p:nvSpPr>
          <p:cNvPr id="48" name="Oval 47"/>
          <p:cNvSpPr/>
          <p:nvPr/>
        </p:nvSpPr>
        <p:spPr>
          <a:xfrm>
            <a:off x="6583680" y="5687568"/>
            <a:ext cx="146304" cy="14630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583680" y="5623560"/>
            <a:ext cx="14630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Segoe UI Semibold"/>
              </a:rPr>
              <a:t>✓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58000" y="5623560"/>
            <a:ext cx="44348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334155"/>
                </a:solidFill>
                <a:latin typeface="Segoe UI"/>
              </a:rPr>
              <a:t>Git snapshots allow rolling back memory state if needed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Storage  ·  SQLite, Zero External DBs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A single file. No server. No Postgres. No Qdrant. Works offline.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15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5349240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54864" cy="10515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213055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Single file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46888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~/.agentmemory/memory.db — portable, backup-friendly, offline-first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17920" y="1965960"/>
            <a:ext cx="5349240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4864" cy="10515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537960" y="213055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Schema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46888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observations + facts + embeddings + decay weights + provenance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3154680"/>
            <a:ext cx="5349240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3154680"/>
            <a:ext cx="54864" cy="10515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331927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BM25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65760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Sharded for scale · manifest commit/rollback prevents corruption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3154680"/>
            <a:ext cx="5349240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3154680"/>
            <a:ext cx="54864" cy="10515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37960" y="331927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Vector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365760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HNSW (Hierarchical Navigable Small World) · cosine similarity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4343400"/>
            <a:ext cx="5349240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4343400"/>
            <a:ext cx="54864" cy="10515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0120" y="45079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Multi-agent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84632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Namespaced: project:agent1 (shared) + project:agent1:private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4343400"/>
            <a:ext cx="5349240" cy="10515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217920" y="4343400"/>
            <a:ext cx="54864" cy="105156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537960" y="4507992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No externals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846320"/>
            <a:ext cx="493776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No Qdrant · no pgvector · no Postgres · no Redis · just SQLite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22960" y="603504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2563EB"/>
                </a:solidFill>
                <a:latin typeface="Segoe UI Semibold"/>
              </a:rPr>
              <a:t>Typical size after 1 year of heavy use:  ~80 MB.  Backs up with one cp.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Triple-Stream Hybrid 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BM25 + Vector + Graph — three streams find what the others miss.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16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3657600" cy="777240"/>
          </a:xfrm>
          <a:prstGeom prst="roundRect">
            <a:avLst>
              <a:gd name="adj" fmla="val 25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423160"/>
            <a:ext cx="3657600" cy="3200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103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BM25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4231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Keyword  search</a:t>
            </a:r>
          </a:p>
        </p:txBody>
      </p:sp>
      <p:sp>
        <p:nvSpPr>
          <p:cNvPr id="18" name="Oval 17"/>
          <p:cNvSpPr/>
          <p:nvPr/>
        </p:nvSpPr>
        <p:spPr>
          <a:xfrm>
            <a:off x="960120" y="30906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43000" y="29992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Porter stemmer algorithm</a:t>
            </a:r>
          </a:p>
        </p:txBody>
      </p:sp>
      <p:sp>
        <p:nvSpPr>
          <p:cNvPr id="20" name="Oval 19"/>
          <p:cNvSpPr/>
          <p:nvPr/>
        </p:nvSpPr>
        <p:spPr>
          <a:xfrm>
            <a:off x="960120" y="35478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143000" y="34564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Synonym expansion</a:t>
            </a:r>
          </a:p>
        </p:txBody>
      </p:sp>
      <p:sp>
        <p:nvSpPr>
          <p:cNvPr id="22" name="Oval 21"/>
          <p:cNvSpPr/>
          <p:nvPr/>
        </p:nvSpPr>
        <p:spPr>
          <a:xfrm>
            <a:off x="960120" y="40050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3000" y="39136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CJK · Cyrillic · Hebrew support</a:t>
            </a:r>
          </a:p>
        </p:txBody>
      </p:sp>
      <p:sp>
        <p:nvSpPr>
          <p:cNvPr id="24" name="Oval 23"/>
          <p:cNvSpPr/>
          <p:nvPr/>
        </p:nvSpPr>
        <p:spPr>
          <a:xfrm>
            <a:off x="960120" y="44622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43000" y="43708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Exact matches: filenames, APIs</a:t>
            </a:r>
          </a:p>
        </p:txBody>
      </p:sp>
      <p:sp>
        <p:nvSpPr>
          <p:cNvPr id="26" name="Oval 25"/>
          <p:cNvSpPr/>
          <p:nvPr/>
        </p:nvSpPr>
        <p:spPr>
          <a:xfrm>
            <a:off x="960120" y="4919472"/>
            <a:ext cx="73152" cy="73152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43000" y="48280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Best for error messages, IDs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5394960"/>
            <a:ext cx="3108960" cy="5943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005840" y="546811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4A3B8"/>
                </a:solidFill>
                <a:latin typeface="Segoe UI Semibold"/>
              </a:rPr>
              <a:t>EXAMPLE QUERY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56692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2563EB"/>
                </a:solidFill>
                <a:latin typeface="Consolas"/>
              </a:rPr>
              <a:t>"PostToolUse hook config"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62272" y="196596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4462272" y="1965960"/>
            <a:ext cx="3657600" cy="777240"/>
          </a:xfrm>
          <a:prstGeom prst="roundRect">
            <a:avLst>
              <a:gd name="adj" fmla="val 2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462272" y="2423160"/>
            <a:ext cx="3657600" cy="3200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736592" y="2103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Vector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736592" y="24231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Semantic  search</a:t>
            </a:r>
          </a:p>
        </p:txBody>
      </p:sp>
      <p:sp>
        <p:nvSpPr>
          <p:cNvPr id="36" name="Oval 35"/>
          <p:cNvSpPr/>
          <p:nvPr/>
        </p:nvSpPr>
        <p:spPr>
          <a:xfrm>
            <a:off x="4782312" y="309067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965192" y="29992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Cosine similarity on embeddings</a:t>
            </a:r>
          </a:p>
        </p:txBody>
      </p:sp>
      <p:sp>
        <p:nvSpPr>
          <p:cNvPr id="38" name="Oval 37"/>
          <p:cNvSpPr/>
          <p:nvPr/>
        </p:nvSpPr>
        <p:spPr>
          <a:xfrm>
            <a:off x="4782312" y="354787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965192" y="34564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Local: all-MiniLM-L6-v2 (free)</a:t>
            </a:r>
          </a:p>
        </p:txBody>
      </p:sp>
      <p:sp>
        <p:nvSpPr>
          <p:cNvPr id="40" name="Oval 39"/>
          <p:cNvSpPr/>
          <p:nvPr/>
        </p:nvSpPr>
        <p:spPr>
          <a:xfrm>
            <a:off x="4782312" y="400507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965192" y="39136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Cloud: OpenAI / Gemini / Voyage</a:t>
            </a:r>
          </a:p>
        </p:txBody>
      </p:sp>
      <p:sp>
        <p:nvSpPr>
          <p:cNvPr id="42" name="Oval 41"/>
          <p:cNvSpPr/>
          <p:nvPr/>
        </p:nvSpPr>
        <p:spPr>
          <a:xfrm>
            <a:off x="4782312" y="446227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4965192" y="43708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Fallback chain on provider down</a:t>
            </a:r>
          </a:p>
        </p:txBody>
      </p:sp>
      <p:sp>
        <p:nvSpPr>
          <p:cNvPr id="44" name="Oval 43"/>
          <p:cNvSpPr/>
          <p:nvPr/>
        </p:nvSpPr>
        <p:spPr>
          <a:xfrm>
            <a:off x="4782312" y="4919472"/>
            <a:ext cx="73152" cy="7315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965192" y="48280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Best for paraphrased queries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736592" y="5394960"/>
            <a:ext cx="3108960" cy="5943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828032" y="546811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4A3B8"/>
                </a:solidFill>
                <a:latin typeface="Segoe UI Semibold"/>
              </a:rPr>
              <a:t>EXAMPLE QUERY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28032" y="56692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7C3AED"/>
                </a:solidFill>
                <a:latin typeface="Consolas"/>
              </a:rPr>
              <a:t>"async runtime choice"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284464" y="1965960"/>
            <a:ext cx="365760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284464" y="1965960"/>
            <a:ext cx="3657600" cy="777240"/>
          </a:xfrm>
          <a:prstGeom prst="roundRect">
            <a:avLst>
              <a:gd name="adj" fmla="val 25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284464" y="2423160"/>
            <a:ext cx="3657600" cy="32004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558784" y="2103120"/>
            <a:ext cx="31089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Graph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58784" y="2423160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Knowledge  search</a:t>
            </a:r>
          </a:p>
        </p:txBody>
      </p:sp>
      <p:sp>
        <p:nvSpPr>
          <p:cNvPr id="54" name="Oval 53"/>
          <p:cNvSpPr/>
          <p:nvPr/>
        </p:nvSpPr>
        <p:spPr>
          <a:xfrm>
            <a:off x="8604504" y="3090672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8787384" y="29992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Entity extraction + BFS traversal</a:t>
            </a:r>
          </a:p>
        </p:txBody>
      </p:sp>
      <p:sp>
        <p:nvSpPr>
          <p:cNvPr id="56" name="Oval 55"/>
          <p:cNvSpPr/>
          <p:nvPr/>
        </p:nvSpPr>
        <p:spPr>
          <a:xfrm>
            <a:off x="8604504" y="3547872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8787384" y="34564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Relationship edges between facts</a:t>
            </a:r>
          </a:p>
        </p:txBody>
      </p:sp>
      <p:sp>
        <p:nvSpPr>
          <p:cNvPr id="58" name="Oval 57"/>
          <p:cNvSpPr/>
          <p:nvPr/>
        </p:nvSpPr>
        <p:spPr>
          <a:xfrm>
            <a:off x="8604504" y="4005072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TextBox 58"/>
          <p:cNvSpPr txBox="1"/>
          <p:nvPr/>
        </p:nvSpPr>
        <p:spPr>
          <a:xfrm>
            <a:off x="8787384" y="39136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Links adjacent decisions</a:t>
            </a:r>
          </a:p>
        </p:txBody>
      </p:sp>
      <p:sp>
        <p:nvSpPr>
          <p:cNvPr id="60" name="Oval 59"/>
          <p:cNvSpPr/>
          <p:nvPr/>
        </p:nvSpPr>
        <p:spPr>
          <a:xfrm>
            <a:off x="8604504" y="4462272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8787384" y="43708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Traverses 'why did we pick X?'</a:t>
            </a:r>
          </a:p>
        </p:txBody>
      </p:sp>
      <p:sp>
        <p:nvSpPr>
          <p:cNvPr id="62" name="Oval 61"/>
          <p:cNvSpPr/>
          <p:nvPr/>
        </p:nvSpPr>
        <p:spPr>
          <a:xfrm>
            <a:off x="8604504" y="4919472"/>
            <a:ext cx="73152" cy="73152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TextBox 62"/>
          <p:cNvSpPr txBox="1"/>
          <p:nvPr/>
        </p:nvSpPr>
        <p:spPr>
          <a:xfrm>
            <a:off x="8787384" y="4828032"/>
            <a:ext cx="2971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34155"/>
                </a:solidFill>
                <a:latin typeface="Segoe UI"/>
              </a:rPr>
              <a:t>Best for cause-effect chains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558784" y="5394960"/>
            <a:ext cx="3108960" cy="5943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TextBox 64"/>
          <p:cNvSpPr txBox="1"/>
          <p:nvPr/>
        </p:nvSpPr>
        <p:spPr>
          <a:xfrm>
            <a:off x="8650224" y="5468112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94A3B8"/>
                </a:solidFill>
                <a:latin typeface="Segoe UI Semibold"/>
              </a:rPr>
              <a:t>EXAMPLE QUERY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650224" y="5669280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059669"/>
                </a:solidFill>
                <a:latin typeface="Consolas"/>
              </a:rPr>
              <a:t>"why jose not jsonwebtoken"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64748B"/>
                </a:solidFill>
                <a:latin typeface="Segoe UI"/>
              </a:rPr>
              <a:t>↓  All three streams merge via Reciprocal Rank Fusion  ↓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RRF Fusion  ·  Combining Three Streams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Reciprocal Rank Fusion (k=60) produces one ranked list from three independent searches.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17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5029200" cy="4297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60120" y="2240280"/>
            <a:ext cx="45720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The formula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60120" y="2651760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960120" y="2880360"/>
            <a:ext cx="4389120" cy="109728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60120" y="315468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000" b="1" i="0">
                <a:solidFill>
                  <a:srgbClr val="60A5FA"/>
                </a:solidFill>
                <a:latin typeface="Consolas"/>
              </a:rPr>
              <a:t>score(d) = Σ 1 / (k + rank_i(d))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3566160"/>
            <a:ext cx="4389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0" i="1">
                <a:solidFill>
                  <a:srgbClr val="64748B"/>
                </a:solidFill>
                <a:latin typeface="Consolas"/>
              </a:rPr>
              <a:t>where k = 60 · sum across streams · lower rank = higher score</a:t>
            </a:r>
          </a:p>
        </p:txBody>
      </p:sp>
      <p:sp>
        <p:nvSpPr>
          <p:cNvPr id="19" name="Oval 18"/>
          <p:cNvSpPr/>
          <p:nvPr/>
        </p:nvSpPr>
        <p:spPr>
          <a:xfrm>
            <a:off x="1051560" y="43616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34440" y="42519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Cross-stream normalization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40" y="42702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Different score scales unified</a:t>
            </a:r>
          </a:p>
        </p:txBody>
      </p:sp>
      <p:sp>
        <p:nvSpPr>
          <p:cNvPr id="22" name="Oval 21"/>
          <p:cNvSpPr/>
          <p:nvPr/>
        </p:nvSpPr>
        <p:spPr>
          <a:xfrm>
            <a:off x="1051560" y="48188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234440" y="47091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Rank-based (not score-based)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49040" y="47274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Robust to scale differences</a:t>
            </a:r>
          </a:p>
        </p:txBody>
      </p:sp>
      <p:sp>
        <p:nvSpPr>
          <p:cNvPr id="25" name="Oval 24"/>
          <p:cNvSpPr/>
          <p:nvPr/>
        </p:nvSpPr>
        <p:spPr>
          <a:xfrm>
            <a:off x="1051560" y="52760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234440" y="51663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Industry-standard k=60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749040" y="51846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Established sweet spot</a:t>
            </a:r>
          </a:p>
        </p:txBody>
      </p:sp>
      <p:sp>
        <p:nvSpPr>
          <p:cNvPr id="28" name="Oval 27"/>
          <p:cNvSpPr/>
          <p:nvPr/>
        </p:nvSpPr>
        <p:spPr>
          <a:xfrm>
            <a:off x="1051560" y="573328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1234440" y="562356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F172A"/>
                </a:solidFill>
                <a:latin typeface="Segoe UI Semibold"/>
              </a:rPr>
              <a:t>O(N) merge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49040" y="564184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Negligible runtime cost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943600" y="1965960"/>
            <a:ext cx="5605272" cy="4297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63640" y="2240280"/>
            <a:ext cx="514807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The pipeline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263640" y="2651760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6217920" y="297180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217920" y="300837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20840" y="2926080"/>
            <a:ext cx="46908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Segoe UI Semibold"/>
              </a:rPr>
              <a:t>Each stream returns Top-10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3172968"/>
            <a:ext cx="46908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BM25 · Vector · Graph rank independently</a:t>
            </a:r>
          </a:p>
        </p:txBody>
      </p:sp>
      <p:sp>
        <p:nvSpPr>
          <p:cNvPr id="38" name="Oval 37"/>
          <p:cNvSpPr/>
          <p:nvPr/>
        </p:nvSpPr>
        <p:spPr>
          <a:xfrm>
            <a:off x="6217920" y="361188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217920" y="364845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20840" y="3566160"/>
            <a:ext cx="46908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Segoe UI Semibold"/>
              </a:rPr>
              <a:t>Compute RRF score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3813048"/>
            <a:ext cx="46908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1/(k + rank) summed across streams</a:t>
            </a:r>
          </a:p>
        </p:txBody>
      </p:sp>
      <p:sp>
        <p:nvSpPr>
          <p:cNvPr id="42" name="Oval 41"/>
          <p:cNvSpPr/>
          <p:nvPr/>
        </p:nvSpPr>
        <p:spPr>
          <a:xfrm>
            <a:off x="6217920" y="425196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217920" y="428853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4206240"/>
            <a:ext cx="46908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Segoe UI Semibold"/>
              </a:rPr>
              <a:t>Merge &amp; sort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4453128"/>
            <a:ext cx="46908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Unified ranking across all candidates</a:t>
            </a:r>
          </a:p>
        </p:txBody>
      </p:sp>
      <p:sp>
        <p:nvSpPr>
          <p:cNvPr id="46" name="Oval 45"/>
          <p:cNvSpPr/>
          <p:nvPr/>
        </p:nvSpPr>
        <p:spPr>
          <a:xfrm>
            <a:off x="6217920" y="489204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217920" y="492861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4846320"/>
            <a:ext cx="46908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Segoe UI Semibold"/>
              </a:rPr>
              <a:t>Session diversification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720840" y="5093208"/>
            <a:ext cx="46908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Max 3 results per session</a:t>
            </a:r>
          </a:p>
        </p:txBody>
      </p:sp>
      <p:sp>
        <p:nvSpPr>
          <p:cNvPr id="50" name="Oval 49"/>
          <p:cNvSpPr/>
          <p:nvPr/>
        </p:nvSpPr>
        <p:spPr>
          <a:xfrm>
            <a:off x="6217920" y="5532120"/>
            <a:ext cx="384048" cy="384048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217920" y="5568696"/>
            <a:ext cx="384048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5486400"/>
            <a:ext cx="469087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Segoe UI Semibold"/>
              </a:rPr>
              <a:t>Return Top-5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720840" y="5733288"/>
            <a:ext cx="469087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Injected into agent context  →  95.2% R@5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Session Start  ·  Memory Injection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What happens in the first few seconds of every new agent session.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18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10908792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54864" cy="713232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914400" y="2157984"/>
            <a:ext cx="365760" cy="36576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14400" y="219456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2084832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SessionStart hook fires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35000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Project path + session ID captured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0" y="2157984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241280" y="218541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0 ms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2752344"/>
            <a:ext cx="10908792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0080" y="2752344"/>
            <a:ext cx="54864" cy="713232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4400" y="2944368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" y="2980944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2871216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Project profile loaded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63040" y="3136392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Top concepts, active files, patterns from SQLite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2944368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241280" y="2971800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3 ms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" y="3538728"/>
            <a:ext cx="10908792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40080" y="3538728"/>
            <a:ext cx="54864" cy="713232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914400" y="3730752"/>
            <a:ext cx="365760" cy="36576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3767328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3657600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Hybrid search runs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63040" y="3922776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BM25 + Vector + Graph over all stored memories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241280" y="3730752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0241280" y="3758184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11 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40080" y="4325112"/>
            <a:ext cx="10908792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640080" y="4325112"/>
            <a:ext cx="54864" cy="713232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14400" y="4517136"/>
            <a:ext cx="365760" cy="365760"/>
          </a:xfrm>
          <a:prstGeom prst="ellipse">
            <a:avLst/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4553712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463040" y="4443984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Token budget applied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63040" y="4709160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Default 2,000 tokens · prioritized by relevance × recency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0241280" y="4517136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241280" y="4544568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0 ms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40080" y="5111496"/>
            <a:ext cx="10908792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40080" y="5111496"/>
            <a:ext cx="54864" cy="713232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914400" y="5303520"/>
            <a:ext cx="365760" cy="36576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14400" y="5340096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463040" y="5230368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Injected into system prompt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63040" y="5495544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Relevant memories formatted and prepended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10241280" y="5303520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241280" y="5330952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1 ms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640080" y="5897880"/>
            <a:ext cx="10908792" cy="713232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640080" y="5897880"/>
            <a:ext cx="54864" cy="713232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914400" y="6089904"/>
            <a:ext cx="365760" cy="365760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914400" y="6126480"/>
            <a:ext cx="36576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463040" y="6016752"/>
            <a:ext cx="62179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Agent ready  ·  full context loaded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463040" y="6281928"/>
            <a:ext cx="68580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64748B"/>
                </a:solidFill>
                <a:latin typeface="Segoe UI"/>
              </a:rPr>
              <a:t>Total cold-start overhead: ~15 ms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241280" y="6089904"/>
            <a:ext cx="1005840" cy="32004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10241280" y="6117336"/>
            <a:ext cx="10058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1" i="0">
                <a:solidFill>
                  <a:srgbClr val="2563EB"/>
                </a:solidFill>
                <a:latin typeface="Consolas"/>
              </a:rPr>
              <a:t>= 15 ms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Multi-Agent Coordination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One memory store · multiple agents · no conflicts.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19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534924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96112" y="2295144"/>
            <a:ext cx="768096" cy="768096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6112" y="2496312"/>
            <a:ext cx="7680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0" y="228600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Leases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2770632"/>
            <a:ext cx="3794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Exclusive action locks prevent race conditions when two agents touch the same task or file at once.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965960"/>
            <a:ext cx="534924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473952" y="2295144"/>
            <a:ext cx="768096" cy="76809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73952" y="2496312"/>
            <a:ext cx="7680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228600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Signals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2770632"/>
            <a:ext cx="3794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Agents broadcast state changes to peers without polling. Task completion notifies instantly.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206240"/>
            <a:ext cx="534924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96112" y="4535424"/>
            <a:ext cx="768096" cy="768096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96112" y="4736592"/>
            <a:ext cx="7680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11680" y="452628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Namespaced storage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11680" y="5010912"/>
            <a:ext cx="3794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project:agent1 for shared team memory. project:agent1:private for per-agent observations.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4206240"/>
            <a:ext cx="5349240" cy="20116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6473952" y="4535424"/>
            <a:ext cx="768096" cy="768096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473952" y="4736592"/>
            <a:ext cx="768096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89520" y="4526280"/>
            <a:ext cx="379476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F172A"/>
                </a:solidFill>
                <a:latin typeface="Segoe UI Semibold"/>
              </a:rPr>
              <a:t>Mesh sync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0" y="5010912"/>
            <a:ext cx="379476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64748B"/>
                </a:solidFill>
                <a:latin typeface="Segoe UI"/>
              </a:rPr>
              <a:t>Claude Code captures decisions · Copilot CLI retrieves them in PR review. One brain, multiple workers.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0408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0408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08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408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408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352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352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352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6352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352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82396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2396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2396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2396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2396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1832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1832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41832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1832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1832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126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0126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0126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0126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126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070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070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070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6070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070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2014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014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014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014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014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109728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DBEAFE"/>
                </a:solidFill>
                <a:latin typeface="Segoe UI Light"/>
              </a:rPr>
              <a:t>04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B82F6"/>
                </a:solidFill>
                <a:latin typeface="Segoe UI Semibold"/>
              </a:rPr>
              <a:t>SECTION 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474720"/>
            <a:ext cx="6400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 Semibold"/>
              </a:rPr>
              <a:t>Code &amp; Integration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29200"/>
            <a:ext cx="5943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BD5E1"/>
                </a:solidFill>
                <a:latin typeface="Segoe UI"/>
              </a:rPr>
              <a:t>Real config · real tool calls · real privacy guarantees.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48640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agentmemory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Hook Config in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`agentmemory connect claude-code` writes this configuration automatically.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21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6858000" cy="443484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6858000" cy="29260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205740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1832" y="205740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6424" y="205740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2011680"/>
            <a:ext cx="59436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4A3B8"/>
                </a:solidFill>
                <a:latin typeface="Consolas"/>
              </a:rPr>
              <a:t>.claude/settings.json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258568"/>
            <a:ext cx="6400800" cy="405079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</a:t>
            </a:r>
            <a:r>
              <a:rPr sz="1200">
                <a:solidFill>
                  <a:srgbClr val="FBBF24"/>
                </a:solidFill>
                <a:latin typeface="Consolas"/>
              </a:rPr>
              <a:t>"hooks"</a:t>
            </a:r>
            <a:r>
              <a:rPr sz="1200">
                <a:solidFill>
                  <a:srgbClr val="E2E8F0"/>
                </a:solidFill>
                <a:latin typeface="Consolas"/>
              </a:rPr>
              <a:t>: {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</a:t>
            </a:r>
            <a:r>
              <a:rPr sz="1200">
                <a:solidFill>
                  <a:srgbClr val="FBBF24"/>
                </a:solidFill>
                <a:latin typeface="Consolas"/>
              </a:rPr>
              <a:t>"PostToolUse"</a:t>
            </a:r>
            <a:r>
              <a:rPr sz="1200">
                <a:solidFill>
                  <a:srgbClr val="E2E8F0"/>
                </a:solidFill>
                <a:latin typeface="Consolas"/>
              </a:rPr>
              <a:t>: [{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</a:t>
            </a:r>
            <a:r>
              <a:rPr sz="1200">
                <a:solidFill>
                  <a:srgbClr val="FBBF24"/>
                </a:solidFill>
                <a:latin typeface="Consolas"/>
              </a:rPr>
              <a:t>"matcher"</a:t>
            </a:r>
            <a:r>
              <a:rPr sz="1200">
                <a:solidFill>
                  <a:srgbClr val="E2E8F0"/>
                </a:solidFill>
                <a:latin typeface="Consolas"/>
              </a:rPr>
              <a:t>: </a:t>
            </a:r>
            <a:r>
              <a:rPr sz="1200">
                <a:solidFill>
                  <a:srgbClr val="86EFAC"/>
                </a:solidFill>
                <a:latin typeface="Consolas"/>
              </a:rPr>
              <a:t>".*"</a:t>
            </a:r>
            <a:r>
              <a:rPr sz="12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</a:t>
            </a:r>
            <a:r>
              <a:rPr sz="1200">
                <a:solidFill>
                  <a:srgbClr val="FBBF24"/>
                </a:solidFill>
                <a:latin typeface="Consolas"/>
              </a:rPr>
              <a:t>"hooks"</a:t>
            </a:r>
            <a:r>
              <a:rPr sz="1200">
                <a:solidFill>
                  <a:srgbClr val="E2E8F0"/>
                </a:solidFill>
                <a:latin typeface="Consolas"/>
              </a:rPr>
              <a:t>: [{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</a:t>
            </a:r>
            <a:r>
              <a:rPr sz="1200">
                <a:solidFill>
                  <a:srgbClr val="FBBF24"/>
                </a:solidFill>
                <a:latin typeface="Consolas"/>
              </a:rPr>
              <a:t>"type"</a:t>
            </a:r>
            <a:r>
              <a:rPr sz="1200">
                <a:solidFill>
                  <a:srgbClr val="E2E8F0"/>
                </a:solidFill>
                <a:latin typeface="Consolas"/>
              </a:rPr>
              <a:t>: </a:t>
            </a:r>
            <a:r>
              <a:rPr sz="1200">
                <a:solidFill>
                  <a:srgbClr val="86EFAC"/>
                </a:solidFill>
                <a:latin typeface="Consolas"/>
              </a:rPr>
              <a:t>"command"</a:t>
            </a:r>
            <a:r>
              <a:rPr sz="12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</a:t>
            </a:r>
            <a:r>
              <a:rPr sz="1200">
                <a:solidFill>
                  <a:srgbClr val="FBBF24"/>
                </a:solidFill>
                <a:latin typeface="Consolas"/>
              </a:rPr>
              <a:t>"command"</a:t>
            </a:r>
            <a:r>
              <a:rPr sz="1200">
                <a:solidFill>
                  <a:srgbClr val="E2E8F0"/>
                </a:solidFill>
                <a:latin typeface="Consolas"/>
              </a:rPr>
              <a:t>: </a:t>
            </a:r>
            <a:r>
              <a:rPr sz="1200">
                <a:solidFill>
                  <a:srgbClr val="86EFAC"/>
                </a:solidFill>
                <a:latin typeface="Consolas"/>
              </a:rPr>
              <a:t>"agentmemory hook post-tool-use"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}]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}],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</a:t>
            </a:r>
            <a:r>
              <a:rPr sz="1200">
                <a:solidFill>
                  <a:srgbClr val="FBBF24"/>
                </a:solidFill>
                <a:latin typeface="Consolas"/>
              </a:rPr>
              <a:t>"Stop"</a:t>
            </a:r>
            <a:r>
              <a:rPr sz="1200">
                <a:solidFill>
                  <a:srgbClr val="E2E8F0"/>
                </a:solidFill>
                <a:latin typeface="Consolas"/>
              </a:rPr>
              <a:t>: [{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</a:t>
            </a:r>
            <a:r>
              <a:rPr sz="1200">
                <a:solidFill>
                  <a:srgbClr val="FBBF24"/>
                </a:solidFill>
                <a:latin typeface="Consolas"/>
              </a:rPr>
              <a:t>"hooks"</a:t>
            </a:r>
            <a:r>
              <a:rPr sz="1200">
                <a:solidFill>
                  <a:srgbClr val="E2E8F0"/>
                </a:solidFill>
                <a:latin typeface="Consolas"/>
              </a:rPr>
              <a:t>: [{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</a:t>
            </a:r>
            <a:r>
              <a:rPr sz="1200">
                <a:solidFill>
                  <a:srgbClr val="FBBF24"/>
                </a:solidFill>
                <a:latin typeface="Consolas"/>
              </a:rPr>
              <a:t>"type"</a:t>
            </a:r>
            <a:r>
              <a:rPr sz="1200">
                <a:solidFill>
                  <a:srgbClr val="E2E8F0"/>
                </a:solidFill>
                <a:latin typeface="Consolas"/>
              </a:rPr>
              <a:t>: </a:t>
            </a:r>
            <a:r>
              <a:rPr sz="1200">
                <a:solidFill>
                  <a:srgbClr val="86EFAC"/>
                </a:solidFill>
                <a:latin typeface="Consolas"/>
              </a:rPr>
              <a:t>"command"</a:t>
            </a:r>
            <a:r>
              <a:rPr sz="12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</a:t>
            </a:r>
            <a:r>
              <a:rPr sz="1200">
                <a:solidFill>
                  <a:srgbClr val="FBBF24"/>
                </a:solidFill>
                <a:latin typeface="Consolas"/>
              </a:rPr>
              <a:t>"command"</a:t>
            </a:r>
            <a:r>
              <a:rPr sz="1200">
                <a:solidFill>
                  <a:srgbClr val="E2E8F0"/>
                </a:solidFill>
                <a:latin typeface="Consolas"/>
              </a:rPr>
              <a:t>: </a:t>
            </a:r>
            <a:r>
              <a:rPr sz="1200">
                <a:solidFill>
                  <a:srgbClr val="86EFAC"/>
                </a:solidFill>
                <a:latin typeface="Consolas"/>
              </a:rPr>
              <a:t>"agentmemory hook stop"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}]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}],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</a:t>
            </a:r>
            <a:r>
              <a:rPr sz="1200">
                <a:solidFill>
                  <a:srgbClr val="FBBF24"/>
                </a:solidFill>
                <a:latin typeface="Consolas"/>
              </a:rPr>
              <a:t>"SessionEnd"</a:t>
            </a:r>
            <a:r>
              <a:rPr sz="1200">
                <a:solidFill>
                  <a:srgbClr val="E2E8F0"/>
                </a:solidFill>
                <a:latin typeface="Consolas"/>
              </a:rPr>
              <a:t>: [{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</a:t>
            </a:r>
            <a:r>
              <a:rPr sz="1200">
                <a:solidFill>
                  <a:srgbClr val="FBBF24"/>
                </a:solidFill>
                <a:latin typeface="Consolas"/>
              </a:rPr>
              <a:t>"hooks"</a:t>
            </a:r>
            <a:r>
              <a:rPr sz="1200">
                <a:solidFill>
                  <a:srgbClr val="E2E8F0"/>
                </a:solidFill>
                <a:latin typeface="Consolas"/>
              </a:rPr>
              <a:t>: [{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</a:t>
            </a:r>
            <a:r>
              <a:rPr sz="1200">
                <a:solidFill>
                  <a:srgbClr val="FBBF24"/>
                </a:solidFill>
                <a:latin typeface="Consolas"/>
              </a:rPr>
              <a:t>"type"</a:t>
            </a:r>
            <a:r>
              <a:rPr sz="1200">
                <a:solidFill>
                  <a:srgbClr val="E2E8F0"/>
                </a:solidFill>
                <a:latin typeface="Consolas"/>
              </a:rPr>
              <a:t>: </a:t>
            </a:r>
            <a:r>
              <a:rPr sz="1200">
                <a:solidFill>
                  <a:srgbClr val="86EFAC"/>
                </a:solidFill>
                <a:latin typeface="Consolas"/>
              </a:rPr>
              <a:t>"command"</a:t>
            </a:r>
            <a:r>
              <a:rPr sz="12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  </a:t>
            </a:r>
            <a:r>
              <a:rPr sz="1200">
                <a:solidFill>
                  <a:srgbClr val="FBBF24"/>
                </a:solidFill>
                <a:latin typeface="Consolas"/>
              </a:rPr>
              <a:t>"command"</a:t>
            </a:r>
            <a:r>
              <a:rPr sz="1200">
                <a:solidFill>
                  <a:srgbClr val="E2E8F0"/>
                </a:solidFill>
                <a:latin typeface="Consolas"/>
              </a:rPr>
              <a:t>: </a:t>
            </a:r>
            <a:r>
              <a:rPr sz="1200">
                <a:solidFill>
                  <a:srgbClr val="86EFAC"/>
                </a:solidFill>
                <a:latin typeface="Consolas"/>
              </a:rPr>
              <a:t>"agentmemory hook session-end"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  }]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}]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80960" y="1965960"/>
            <a:ext cx="3867912" cy="44348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955280" y="2240280"/>
            <a:ext cx="341071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What this does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955280" y="2651760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955280" y="2880360"/>
            <a:ext cx="64008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2880360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matcher: ".*"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3154680"/>
            <a:ext cx="32278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Fires on every tool: Read, Write, Bash, Edit, Grep, Glob — all of them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3749040"/>
            <a:ext cx="64008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38160" y="3749040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Idempotent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023360"/>
            <a:ext cx="32278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Safe to re-run · skips already-wired hooks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55280" y="4617720"/>
            <a:ext cx="64008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60" y="4617720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Re-runnable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4892040"/>
            <a:ext cx="32278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Updates config on agentmemory version bumps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955280" y="5486400"/>
            <a:ext cx="64008" cy="64008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138160" y="5486400"/>
            <a:ext cx="3227832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Skills installed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760720"/>
            <a:ext cx="3227832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npx skills add rohitg00/agentmemory installs 8 native skills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MCP Tool Call  ·  memory_smart_search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53 MCP tools available — `memory_smart_search` is the daily workhorse.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22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5577840" cy="18288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5577840" cy="29260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777240" y="205740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941832" y="205740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6424" y="205740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463040" y="2011680"/>
            <a:ext cx="46634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4A3B8"/>
                </a:solidFill>
                <a:latin typeface="Consolas"/>
              </a:rPr>
              <a:t>agent  →  MCP server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2258568"/>
            <a:ext cx="5120640" cy="144475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</a:t>
            </a:r>
            <a:r>
              <a:rPr sz="1200">
                <a:solidFill>
                  <a:srgbClr val="FBBF24"/>
                </a:solidFill>
                <a:latin typeface="Consolas"/>
              </a:rPr>
              <a:t>"tool"</a:t>
            </a:r>
            <a:r>
              <a:rPr sz="1200">
                <a:solidFill>
                  <a:srgbClr val="E2E8F0"/>
                </a:solidFill>
                <a:latin typeface="Consolas"/>
              </a:rPr>
              <a:t>: </a:t>
            </a:r>
            <a:r>
              <a:rPr sz="1200">
                <a:solidFill>
                  <a:srgbClr val="86EFAC"/>
                </a:solidFill>
                <a:latin typeface="Consolas"/>
              </a:rPr>
              <a:t>"memory_smart_search"</a:t>
            </a:r>
            <a:r>
              <a:rPr sz="12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</a:t>
            </a:r>
            <a:r>
              <a:rPr sz="1200">
                <a:solidFill>
                  <a:srgbClr val="FBBF24"/>
                </a:solidFill>
                <a:latin typeface="Consolas"/>
              </a:rPr>
              <a:t>"input"</a:t>
            </a:r>
            <a:r>
              <a:rPr sz="1200">
                <a:solidFill>
                  <a:srgbClr val="E2E8F0"/>
                </a:solidFill>
                <a:latin typeface="Consolas"/>
              </a:rPr>
              <a:t>: {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</a:t>
            </a:r>
            <a:r>
              <a:rPr sz="1200">
                <a:solidFill>
                  <a:srgbClr val="FBBF24"/>
                </a:solidFill>
                <a:latin typeface="Consolas"/>
              </a:rPr>
              <a:t>"query"</a:t>
            </a:r>
            <a:r>
              <a:rPr sz="1200">
                <a:solidFill>
                  <a:srgbClr val="E2E8F0"/>
                </a:solidFill>
                <a:latin typeface="Consolas"/>
              </a:rPr>
              <a:t>: </a:t>
            </a:r>
            <a:r>
              <a:rPr sz="1200">
                <a:solidFill>
                  <a:srgbClr val="86EFAC"/>
                </a:solidFill>
                <a:latin typeface="Consolas"/>
              </a:rPr>
              <a:t>"why did we choose jose over jsonwebtoken"</a:t>
            </a:r>
            <a:r>
              <a:rPr sz="120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  </a:t>
            </a:r>
            <a:r>
              <a:rPr sz="1200">
                <a:solidFill>
                  <a:srgbClr val="FBBF24"/>
                </a:solidFill>
                <a:latin typeface="Consolas"/>
              </a:rPr>
              <a:t>"limit"</a:t>
            </a:r>
            <a:r>
              <a:rPr sz="1200">
                <a:solidFill>
                  <a:srgbClr val="E2E8F0"/>
                </a:solidFill>
                <a:latin typeface="Consolas"/>
              </a:rPr>
              <a:t>: </a:t>
            </a:r>
            <a:r>
              <a:rPr sz="1200">
                <a:solidFill>
                  <a:srgbClr val="F0ABFC"/>
                </a:solidFill>
                <a:latin typeface="Consolas"/>
              </a:rPr>
              <a:t>5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  }</a:t>
            </a:r>
          </a:p>
          <a:p>
            <a:pPr>
              <a:lnSpc>
                <a:spcPct val="125000"/>
              </a:lnSpc>
            </a:pPr>
            <a:r>
              <a:rPr sz="120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5080" y="1965960"/>
            <a:ext cx="5193792" cy="182880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355080" y="1965960"/>
            <a:ext cx="5193792" cy="292608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6492240" y="2057400"/>
            <a:ext cx="118872" cy="118872"/>
          </a:xfrm>
          <a:prstGeom prst="ellipse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6656832" y="2057400"/>
            <a:ext cx="118872" cy="1188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6821424" y="2057400"/>
            <a:ext cx="118872" cy="118872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78040" y="2011680"/>
            <a:ext cx="4279392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94A3B8"/>
                </a:solidFill>
                <a:latin typeface="Consolas"/>
              </a:rPr>
              <a:t>MCP server  → 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258568"/>
            <a:ext cx="4736592" cy="1444752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050">
                <a:solidFill>
                  <a:srgbClr val="E2E8F0"/>
                </a:solidFill>
                <a:latin typeface="Consolas"/>
              </a:rPr>
              <a:t>{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FBBF24"/>
                </a:solidFill>
                <a:latin typeface="Consolas"/>
              </a:rPr>
              <a:t>"content"</a:t>
            </a:r>
            <a:r>
              <a:rPr sz="1050">
                <a:solidFill>
                  <a:srgbClr val="E2E8F0"/>
                </a:solidFill>
                <a:latin typeface="Consolas"/>
              </a:rPr>
              <a:t>: </a:t>
            </a:r>
            <a:r>
              <a:rPr sz="1050">
                <a:solidFill>
                  <a:srgbClr val="86EFAC"/>
                </a:solidFill>
                <a:latin typeface="Consolas"/>
              </a:rPr>
              <a:t>"Session 4 (2026-01-14): Chose jose middleware (src/middleware/auth.ts) over jsonwebtoken. Reason: jose works on Edge runtime; jsonwebtoken does not. Tests in auth.test.ts."</a:t>
            </a:r>
            <a:r>
              <a:rPr sz="10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FBBF24"/>
                </a:solidFill>
                <a:latin typeface="Consolas"/>
              </a:rPr>
              <a:t>"score"</a:t>
            </a:r>
            <a:r>
              <a:rPr sz="1050">
                <a:solidFill>
                  <a:srgbClr val="E2E8F0"/>
                </a:solidFill>
                <a:latin typeface="Consolas"/>
              </a:rPr>
              <a:t>: </a:t>
            </a:r>
            <a:r>
              <a:rPr sz="1050">
                <a:solidFill>
                  <a:srgbClr val="F0ABFC"/>
                </a:solidFill>
                <a:latin typeface="Consolas"/>
              </a:rPr>
              <a:t>0.94</a:t>
            </a:r>
            <a:r>
              <a:rPr sz="10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FBBF24"/>
                </a:solidFill>
                <a:latin typeface="Consolas"/>
              </a:rPr>
              <a:t>"tier"</a:t>
            </a:r>
            <a:r>
              <a:rPr sz="1050">
                <a:solidFill>
                  <a:srgbClr val="E2E8F0"/>
                </a:solidFill>
                <a:latin typeface="Consolas"/>
              </a:rPr>
              <a:t>: </a:t>
            </a:r>
            <a:r>
              <a:rPr sz="1050">
                <a:solidFill>
                  <a:srgbClr val="86EFAC"/>
                </a:solidFill>
                <a:latin typeface="Consolas"/>
              </a:rPr>
              <a:t>"semantic"</a:t>
            </a:r>
            <a:r>
              <a:rPr sz="10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FBBF24"/>
                </a:solidFill>
                <a:latin typeface="Consolas"/>
              </a:rPr>
              <a:t>"session"</a:t>
            </a:r>
            <a:r>
              <a:rPr sz="1050">
                <a:solidFill>
                  <a:srgbClr val="E2E8F0"/>
                </a:solidFill>
                <a:latin typeface="Consolas"/>
              </a:rPr>
              <a:t>: </a:t>
            </a:r>
            <a:r>
              <a:rPr sz="1050">
                <a:solidFill>
                  <a:srgbClr val="F0ABFC"/>
                </a:solidFill>
                <a:latin typeface="Consolas"/>
              </a:rPr>
              <a:t>4</a:t>
            </a:r>
            <a:r>
              <a:rPr sz="1050">
                <a:solidFill>
                  <a:srgbClr val="E2E8F0"/>
                </a:solidFill>
                <a:latin typeface="Consolas"/>
              </a:rPr>
              <a:t>,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FBBF24"/>
                </a:solidFill>
                <a:latin typeface="Consolas"/>
              </a:rPr>
              <a:t>"citations"</a:t>
            </a:r>
            <a:r>
              <a:rPr sz="1050">
                <a:solidFill>
                  <a:srgbClr val="E2E8F0"/>
                </a:solidFill>
                <a:latin typeface="Consolas"/>
              </a:rPr>
              <a:t>: [</a:t>
            </a:r>
            <a:r>
              <a:rPr sz="1050">
                <a:solidFill>
                  <a:srgbClr val="86EFAC"/>
                </a:solidFill>
                <a:latin typeface="Consolas"/>
              </a:rPr>
              <a:t>"obs_4_221"</a:t>
            </a:r>
            <a:r>
              <a:rPr sz="1050">
                <a:solidFill>
                  <a:srgbClr val="E2E8F0"/>
                </a:solidFill>
                <a:latin typeface="Consolas"/>
              </a:rPr>
              <a:t>, </a:t>
            </a:r>
            <a:r>
              <a:rPr sz="1050">
                <a:solidFill>
                  <a:srgbClr val="86EFAC"/>
                </a:solidFill>
                <a:latin typeface="Consolas"/>
              </a:rPr>
              <a:t>"obs_4_308"</a:t>
            </a:r>
            <a:r>
              <a:rPr sz="1050">
                <a:solidFill>
                  <a:srgbClr val="E2E8F0"/>
                </a:solidFill>
                <a:latin typeface="Consolas"/>
              </a:rPr>
              <a:t>]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E2E8F0"/>
                </a:solidFill>
                <a:latin typeface="Consolas"/>
              </a:rPr>
              <a:t>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9632" y="2697480"/>
            <a:ext cx="1828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94A3B8"/>
                </a:solidFill>
                <a:latin typeface="Segoe UI Semibold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402336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Other key MCP tools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40080" y="4434840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640080" y="4663440"/>
            <a:ext cx="5349240" cy="640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640080" y="4663440"/>
            <a:ext cx="54864" cy="6400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14400" y="4754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memory_store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14400" y="50292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Manually store a fact or decision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17920" y="4663440"/>
            <a:ext cx="5349240" cy="640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6217920" y="4663440"/>
            <a:ext cx="54864" cy="64008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492240" y="475488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memory_get_session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92240" y="502920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Retrieve all observations from a session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5440680"/>
            <a:ext cx="5349240" cy="640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640080" y="5440680"/>
            <a:ext cx="54864" cy="64008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14400" y="55321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memory_forget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8064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Remove a memory (GDPR · cleanup)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217920" y="5440680"/>
            <a:ext cx="5349240" cy="64008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6217920" y="5440680"/>
            <a:ext cx="54864" cy="640080"/>
          </a:xfrm>
          <a:prstGeom prst="roundRect">
            <a:avLst>
              <a:gd name="adj" fmla="val 50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492240" y="5532120"/>
            <a:ext cx="23774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Consolas"/>
              </a:rPr>
              <a:t>memory_graph_query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806440"/>
            <a:ext cx="4937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Traverse the knowledge graph directly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Privacy Filter in Action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Secrets stripped before any observation hits disk. Regex + tag-based stripping.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23  /  34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" y="2057400"/>
            <a:ext cx="164592" cy="164592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2029968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C2626"/>
                </a:solidFill>
                <a:latin typeface="Segoe UI Semibold"/>
              </a:rPr>
              <a:t>BEFORE  ·  raw tool output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2057400"/>
            <a:ext cx="164592" cy="164592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2029968"/>
            <a:ext cx="530352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059669"/>
                </a:solidFill>
                <a:latin typeface="Segoe UI Semibold"/>
              </a:rPr>
              <a:t>AFTER  ·  stored safely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2423160"/>
            <a:ext cx="5486400" cy="38404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2560320"/>
            <a:ext cx="5029200" cy="3611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050">
                <a:solidFill>
                  <a:srgbClr val="64748B"/>
                </a:solidFill>
                <a:latin typeface="Consolas"/>
              </a:rPr>
              <a:t># Raw tool output (NEVER stored)</a:t>
            </a:r>
          </a:p>
          <a:p>
            <a:pPr>
              <a:lnSpc>
                <a:spcPct val="125000"/>
              </a:lnSpc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OPENAI_API_KEY=sk-proj-abc123xyz789...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DATABASE_URL=postgres://user:s3cr3t@db.internal/prod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Authorization:</a:t>
            </a:r>
            <a:r>
              <a:rPr sz="1050">
                <a:solidFill>
                  <a:srgbClr val="E2E8F0"/>
                </a:solidFill>
                <a:latin typeface="Consolas"/>
              </a:rPr>
              <a:t> Bearer eyJhbGciOiJSUzI1NiJ9...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GITHUB_TOKEN=ghp_xxxxxxxxxxxxxxxxxxxx</a:t>
            </a:r>
          </a:p>
          <a:p>
            <a:pPr>
              <a:lnSpc>
                <a:spcPct val="125000"/>
              </a:lnSpc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&lt;private&gt;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60A5FA"/>
                </a:solidFill>
                <a:latin typeface="Consolas"/>
              </a:rPr>
              <a:t>Internal</a:t>
            </a:r>
            <a:r>
              <a:rPr sz="1050">
                <a:solidFill>
                  <a:srgbClr val="E2E8F0"/>
                </a:solidFill>
                <a:latin typeface="Consolas"/>
              </a:rPr>
              <a:t> strategy: migrate to v2 by Q3.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E2E8F0"/>
                </a:solidFill>
                <a:latin typeface="Consolas"/>
              </a:rPr>
              <a:t>  </a:t>
            </a:r>
            <a:r>
              <a:rPr sz="1050">
                <a:solidFill>
                  <a:srgbClr val="60A5FA"/>
                </a:solidFill>
                <a:latin typeface="Consolas"/>
              </a:rPr>
              <a:t>This</a:t>
            </a:r>
            <a:r>
              <a:rPr sz="1050">
                <a:solidFill>
                  <a:srgbClr val="E2E8F0"/>
                </a:solidFill>
                <a:latin typeface="Consolas"/>
              </a:rPr>
              <a:t> reasoning is confidential.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&lt;/private&gt;</a:t>
            </a:r>
          </a:p>
          <a:p>
            <a:pPr>
              <a:lnSpc>
                <a:spcPct val="125000"/>
              </a:lnSpc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AWS_SECRET_ACCESS_KEY=wJalrXUtnFEMI/K7MDENG...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55080" y="2423160"/>
            <a:ext cx="5193792" cy="3840480"/>
          </a:xfrm>
          <a:prstGeom prst="roundRect">
            <a:avLst>
              <a:gd name="adj" fmla="val 2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0" y="2560320"/>
            <a:ext cx="4736592" cy="361188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>
              <a:lnSpc>
                <a:spcPct val="125000"/>
              </a:lnSpc>
            </a:pPr>
            <a:r>
              <a:rPr sz="1050">
                <a:solidFill>
                  <a:srgbClr val="64748B"/>
                </a:solidFill>
                <a:latin typeface="Consolas"/>
              </a:rPr>
              <a:t># Stored observation (privacy-filtered)</a:t>
            </a:r>
          </a:p>
          <a:p>
            <a:pPr>
              <a:lnSpc>
                <a:spcPct val="125000"/>
              </a:lnSpc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OPENAI_API_KEY=[REDACTED]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DATABASE_URL=[REDACTED]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Authorization:</a:t>
            </a:r>
            <a:r>
              <a:rPr sz="1050">
                <a:solidFill>
                  <a:srgbClr val="E2E8F0"/>
                </a:solidFill>
                <a:latin typeface="Consolas"/>
              </a:rPr>
              <a:t> [REDACTED]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GITHUB_TOKEN=[REDACTED]</a:t>
            </a:r>
          </a:p>
          <a:p>
            <a:pPr>
              <a:lnSpc>
                <a:spcPct val="125000"/>
              </a:lnSpc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[PRIVATE</a:t>
            </a:r>
            <a:r>
              <a:rPr sz="1050">
                <a:solidFill>
                  <a:srgbClr val="E2E8F0"/>
                </a:solidFill>
                <a:latin typeface="Consolas"/>
              </a:rPr>
              <a:t> BLOCK REMOVED]</a:t>
            </a:r>
          </a:p>
          <a:p>
            <a:pPr>
              <a:lnSpc>
                <a:spcPct val="125000"/>
              </a:lnSpc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050">
                <a:latin typeface="Consolas"/>
              </a:rPr>
              <a:t> </a:t>
            </a:r>
          </a:p>
          <a:p>
            <a:pPr>
              <a:lnSpc>
                <a:spcPct val="125000"/>
              </a:lnSpc>
            </a:pPr>
            <a:r>
              <a:rPr sz="1050">
                <a:solidFill>
                  <a:srgbClr val="60A5FA"/>
                </a:solidFill>
                <a:latin typeface="Consolas"/>
              </a:rPr>
              <a:t>AWS_SECRET_ACCESS_KEY=[REDACTED]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0408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0408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08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408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408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352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352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352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6352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352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82396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2396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2396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2396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2396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1832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1832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41832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1832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1832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126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0126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0126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0126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126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070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070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070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6070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070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2014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014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014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014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014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109728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DBEAFE"/>
                </a:solidFill>
                <a:latin typeface="Segoe UI Light"/>
              </a:rP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B82F6"/>
                </a:solidFill>
                <a:latin typeface="Segoe UI Semibold"/>
              </a:rPr>
              <a:t>SECTION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474720"/>
            <a:ext cx="6400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 Semibold"/>
              </a:rPr>
              <a:t>Benchmarks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29200"/>
            <a:ext cx="5943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BD5E1"/>
                </a:solidFill>
                <a:latin typeface="Segoe UI"/>
              </a:rPr>
              <a:t>Numbers that matter.
Academic eval · token efficiency · in-house corpus.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48640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agentmemory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LongMemEval-S Results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ICLR 2025 benchmark · 500 questions · ~115K tokens each · five reasoning types.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25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4114800" cy="2011680"/>
          </a:xfrm>
          <a:prstGeom prst="roundRect">
            <a:avLst>
              <a:gd name="adj" fmla="val 4000"/>
            </a:avLst>
          </a:prstGeom>
          <a:solidFill>
            <a:srgbClr val="1E3A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240280"/>
            <a:ext cx="4114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DBEAFE"/>
                </a:solidFill>
                <a:latin typeface="Segoe UI Semibold"/>
              </a:rPr>
              <a:t>RECALL @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606040"/>
            <a:ext cx="41148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400" b="1" i="0">
                <a:solidFill>
                  <a:srgbClr val="FFFFFF"/>
                </a:solidFill>
                <a:latin typeface="Segoe UI Light"/>
              </a:rPr>
              <a:t>95.2%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3520440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00" b="0" i="1">
                <a:solidFill>
                  <a:srgbClr val="DBEAFE"/>
                </a:solidFill>
                <a:latin typeface="Segoe UI"/>
              </a:rPr>
              <a:t>agentmemory hybrid (BM25 + Vector + Graph)</a:t>
            </a:r>
          </a:p>
        </p:txBody>
      </p:sp>
      <p:graphicFrame>
        <p:nvGraphicFramePr>
          <p:cNvPr id="17" name="Chart 16"/>
          <p:cNvGraphicFramePr>
            <a:graphicFrameLocks noGrp="1"/>
          </p:cNvGraphicFramePr>
          <p:nvPr/>
        </p:nvGraphicFramePr>
        <p:xfrm>
          <a:off x="4937760" y="1965960"/>
          <a:ext cx="6611112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F172A"/>
                </a:solidFill>
                <a:latin typeface="Segoe UI Semibold"/>
              </a:rPr>
              <a:t>Breakdown by question type  ·  agentmemory hybrid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4526280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40080" y="4800600"/>
            <a:ext cx="2121408" cy="1508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059669"/>
                </a:solidFill>
                <a:latin typeface="Segoe UI Semibold"/>
              </a:rPr>
              <a:t>98.7%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84708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Knowledge updates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52928" y="4800600"/>
            <a:ext cx="2121408" cy="1508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852928" y="507492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059669"/>
                </a:solidFill>
                <a:latin typeface="Segoe UI Semibold"/>
              </a:rPr>
              <a:t>97.7%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90088" y="5715000"/>
            <a:ext cx="184708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Multi-session reasoning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65776" y="4800600"/>
            <a:ext cx="2121408" cy="1508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65776" y="507492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059669"/>
                </a:solidFill>
                <a:latin typeface="Segoe UI Semibold"/>
              </a:rPr>
              <a:t>96.4%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02936" y="5715000"/>
            <a:ext cx="184708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Single-session  ·  assistant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78624" y="4800600"/>
            <a:ext cx="2121408" cy="1508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78624" y="507492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059669"/>
                </a:solidFill>
                <a:latin typeface="Segoe UI Semibold"/>
              </a:rPr>
              <a:t>95.5%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15784" y="5715000"/>
            <a:ext cx="184708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Temporal reasoning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491472" y="4800600"/>
            <a:ext cx="2121408" cy="150876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491472" y="5074920"/>
            <a:ext cx="2121408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 i="0">
                <a:solidFill>
                  <a:srgbClr val="D97706"/>
                </a:solidFill>
                <a:latin typeface="Segoe UI Semibold"/>
              </a:rPr>
              <a:t>83.3%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28632" y="5715000"/>
            <a:ext cx="1847088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000" b="0" i="0">
                <a:solidFill>
                  <a:srgbClr val="64748B"/>
                </a:solidFill>
                <a:latin typeface="Segoe UI"/>
              </a:rPr>
              <a:t>Single-session  ·  preferences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Token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92% fewer tokens · $0/yr with local embeddings · 240 obs/yr baseline.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26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10908792" cy="502920"/>
          </a:xfrm>
          <a:prstGeom prst="roundRect">
            <a:avLst>
              <a:gd name="adj" fmla="val 5000"/>
            </a:avLst>
          </a:prstGeom>
          <a:solidFill>
            <a:srgbClr val="D1FA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" y="2057400"/>
            <a:ext cx="106070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59669"/>
                </a:solidFill>
                <a:latin typeface="Segoe UI Semibold"/>
              </a:rPr>
              <a:t>92% token reduction vs LLM-summarized memory  ·  near-zero cost</a:t>
            </a:r>
          </a:p>
        </p:txBody>
      </p:sp>
      <p:graphicFrame>
        <p:nvGraphicFramePr>
          <p:cNvPr id="15" name="Chart 14"/>
          <p:cNvGraphicFramePr>
            <a:graphicFrameLocks noGrp="1"/>
          </p:cNvGraphicFramePr>
          <p:nvPr/>
        </p:nvGraphicFramePr>
        <p:xfrm>
          <a:off x="640080" y="2697480"/>
          <a:ext cx="548640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355080" y="2697480"/>
            <a:ext cx="5193792" cy="34747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629400" y="2926080"/>
            <a:ext cx="4645152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Cost per year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629400" y="3337560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629400" y="361188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12280" y="364845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Segoe UI Semibold"/>
              </a:rPr>
              <a:t>Paste full history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80" y="388620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Exceeds 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64040" y="370332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DC2626"/>
                </a:solidFill>
                <a:latin typeface="Segoe UI Semibold"/>
              </a:rPr>
              <a:t>Impossible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29400" y="420624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12280" y="424281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Segoe UI Semibold"/>
              </a:rPr>
              <a:t>LLM-summarized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12280" y="448056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Lossy, drops detail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64040" y="429768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D97706"/>
                </a:solidFill>
                <a:latin typeface="Segoe UI Semibold"/>
              </a:rPr>
              <a:t>~$500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629400" y="480060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12280" y="483717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Segoe UI Semibold"/>
              </a:rPr>
              <a:t>agentmemory (API)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12280" y="507492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Cloud embeddings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64040" y="489204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2563EB"/>
                </a:solidFill>
                <a:latin typeface="Segoe UI Semibold"/>
              </a:rPr>
              <a:t>~$10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629400" y="5394960"/>
            <a:ext cx="73152" cy="4572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12280" y="5431536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F172A"/>
                </a:solidFill>
                <a:latin typeface="Segoe UI Semibold"/>
              </a:rPr>
              <a:t>agentmemory (local)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80" y="5669280"/>
            <a:ext cx="2377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1">
                <a:solidFill>
                  <a:srgbClr val="64748B"/>
                </a:solidFill>
                <a:latin typeface="Segoe UI"/>
              </a:rPr>
              <a:t>all-MiniLM-L6-v2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64040" y="5486400"/>
            <a:ext cx="192024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800" b="1" i="0">
                <a:solidFill>
                  <a:srgbClr val="059669"/>
                </a:solidFill>
                <a:latin typeface="Segoe UI Semibold"/>
              </a:rPr>
              <a:t>$0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BENCHMARKS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In-house Benchmark  ·  coding-agent-life-v1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15 Claude Code sessions · 10 days · real Rust CLI project · 100% hit rate.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27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2606040" cy="1371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214884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59669"/>
                </a:solidFill>
                <a:latin typeface="Segoe UI Semibold"/>
              </a:rP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7889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Hit rate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1965960"/>
            <a:ext cx="2606040" cy="1371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3429000" y="19659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29000" y="214884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059669"/>
                </a:solidFill>
                <a:latin typeface="Segoe UI Semibold"/>
              </a:rPr>
              <a:t>1.000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7889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Recall @ 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1965960"/>
            <a:ext cx="2606040" cy="1371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17920" y="19659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17920" y="214884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563EB"/>
                </a:solidFill>
                <a:latin typeface="Segoe UI Semibold"/>
              </a:rPr>
              <a:t>0.240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9360" y="27889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Precision @ 5 (at ceiling)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6840" y="1965960"/>
            <a:ext cx="2606040" cy="137160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006840" y="1965960"/>
            <a:ext cx="2606040" cy="64008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06840" y="2148840"/>
            <a:ext cx="260604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 i="0">
                <a:solidFill>
                  <a:srgbClr val="2563EB"/>
                </a:solidFill>
                <a:latin typeface="Segoe UI Semibold"/>
              </a:rPr>
              <a:t>14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2788920"/>
            <a:ext cx="2423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p50 latency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3611880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F172A"/>
                </a:solidFill>
                <a:latin typeface="Segoe UI Semibold"/>
              </a:rPr>
              <a:t>Hybrid vs grep baseline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40080" y="3977640"/>
            <a:ext cx="548640" cy="0"/>
          </a:xfrm>
          <a:prstGeom prst="line">
            <a:avLst/>
          </a:prstGeom>
          <a:ln w="2540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640080" y="4297680"/>
          <a:ext cx="10908792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476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System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Hit Rate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R@5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P@5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p50 Latency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Segoe UI"/>
                        </a:rPr>
                        <a:t>agentmemory hybrid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Segoe UI"/>
                        </a:rPr>
                        <a:t>100%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Segoe UI"/>
                        </a:rPr>
                        <a:t>1.000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Segoe UI"/>
                        </a:rPr>
                        <a:t>0.240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2563EB"/>
                          </a:solidFill>
                          <a:latin typeface="Segoe UI"/>
                        </a:rPr>
                        <a:t>14 ms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50" b="1">
                          <a:solidFill>
                            <a:srgbClr val="0F172A"/>
                          </a:solidFill>
                          <a:latin typeface="Segoe UI"/>
                        </a:rPr>
                        <a:t>grep baseline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Segoe UI"/>
                        </a:rPr>
                        <a:t>96.7%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Segoe UI"/>
                        </a:rPr>
                        <a:t>0.967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Segoe UI"/>
                        </a:rPr>
                        <a:t>—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50" b="0">
                          <a:solidFill>
                            <a:srgbClr val="334155"/>
                          </a:solidFill>
                          <a:latin typeface="Segoe UI"/>
                        </a:rPr>
                        <a:t>0 ms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2" name="Rounded Rectangle 31"/>
          <p:cNvSpPr/>
          <p:nvPr/>
        </p:nvSpPr>
        <p:spPr>
          <a:xfrm>
            <a:off x="640080" y="5943600"/>
            <a:ext cx="10908792" cy="50292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68680" y="5989320"/>
            <a:ext cx="1051560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KEY FINDING  ·  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03120" y="5989320"/>
            <a:ext cx="94183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F172A"/>
                </a:solidFill>
                <a:latin typeface="Segoe UI"/>
              </a:rPr>
              <a:t>Temporal queries: grep finds 1/2 gold sessions  ·  agentmemory finds 2/2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6858000" y="0"/>
            <a:ext cx="5333695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0408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0408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70408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70408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0408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6352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6352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76352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6352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6352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296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2296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2296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2296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296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82396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882396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82396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82396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82396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41832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41832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41832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41832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41832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01268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01268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1001268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1001268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1001268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1060704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1060704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60704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60704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0704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1201400" y="45720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201400" y="164592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01400" y="283464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01400" y="402336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1201400" y="5212080"/>
            <a:ext cx="73152" cy="73152"/>
          </a:xfrm>
          <a:prstGeom prst="ellipse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8640" y="1097280"/>
            <a:ext cx="548640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0" b="1" i="0">
                <a:solidFill>
                  <a:srgbClr val="DBEAFE"/>
                </a:solidFill>
                <a:latin typeface="Segoe UI Light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3B82F6"/>
                </a:solidFill>
                <a:latin typeface="Segoe UI Semibold"/>
              </a:rPr>
              <a:t>SECTION 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3474720"/>
            <a:ext cx="640080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Segoe UI Semibold"/>
              </a:rPr>
              <a:t>Comparison &amp; Roadmap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029200"/>
            <a:ext cx="594360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0" i="0">
                <a:solidFill>
                  <a:srgbClr val="CBD5E1"/>
                </a:solidFill>
                <a:latin typeface="Segoe UI"/>
              </a:rPr>
              <a:t>Where it stands today · where it's going.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0" y="548640"/>
            <a:ext cx="478505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Segoe UI"/>
              </a:rPr>
              <a:t>agentmemory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agentmemory vs Native Claude Code 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Built-in CLAUDE.md is file-based. agentmemory is a query engine.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29  /  34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1965960"/>
          <a:ext cx="10908792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165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Feature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Claude Code native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Segoe UI Semibold"/>
                        </a:rPr>
                        <a:t>agentmemory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Cross-agent support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Claude Code only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15+ agents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Retrieval method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Loads full MEMORY.md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Hybrid search · 95.2% R@5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Scale ceiling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Degrades past ~200 lines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Stays efficient at scale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Auto-capture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Manual Write calls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12 hooks · automatic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Token efficiency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Grows unbounded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~1,900 tokens/session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Cross-project memory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Per working directory only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Shared across projects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Multi-agent coordination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Leases · signals · namespaces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0F172A"/>
                          </a:solidFill>
                          <a:latin typeface="Segoe UI"/>
                        </a:rPr>
                        <a:t>Real-time viewer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334155"/>
                          </a:solidFill>
                          <a:latin typeface="Segoe UI"/>
                        </a:rPr>
                        <a:t>Yes  ·  port 3113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Full Competitive Matrix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agentmemory vs mem0 vs Letta vs CLAUDE.md across 12 dimensions.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30  /  34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40080" y="1965960"/>
          <a:ext cx="10908792" cy="49926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48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Feature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agentmemory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mem0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Letta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Segoe UI Semibold"/>
                        </a:rPr>
                        <a:t>CLAUDE.md</a:t>
                      </a:r>
                    </a:p>
                  </a:txBody>
                  <a:tcPr marL="109728" marR="109728" marT="73152" marB="73152">
                    <a:solidFill>
                      <a:srgbClr val="1E3A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Retrieval R@5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Segoe UI"/>
                        </a:rPr>
                        <a:t>95.2%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68.5%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83.2%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Auto-capture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Segoe UI"/>
                        </a:rPr>
                        <a:t>12 hooks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Manual add()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Agent-managed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Manual edit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Search type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Segoe UI"/>
                        </a:rPr>
                        <a:t>BM25+Vector+Graph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Vector+Graph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Vector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Full load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Multi-agent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Segoe UI"/>
                        </a:rPr>
                        <a:t>MCP + leases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API only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Runtime-internal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Framework lock-in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High (Letta)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Per-agent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External DB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Segoe UI"/>
                        </a:rPr>
                        <a:t>None  ·  SQLite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Qdrant/pgvector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Postgres+vector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Lifecycle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Segoe UI"/>
                        </a:rPr>
                        <a:t>4-tier + decay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Passive extraction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Agent-managed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Manual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Tokens/session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Segoe UI"/>
                        </a:rPr>
                        <a:t>~1,900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Varies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In-context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22K+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Real-time viewer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Segoe UI"/>
                        </a:rPr>
                        <a:t>Built-in :3113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Cloud only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Cloud only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No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Self-hosted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Segoe UI"/>
                        </a:rPr>
                        <a:t>Default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Optional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Optional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MCP tools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Segoe UI"/>
                        </a:rPr>
                        <a:t>53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Few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None</a:t>
                      </a:r>
                    </a:p>
                  </a:txBody>
                  <a:tcPr marL="109728" marR="109728" marT="54864" marB="54864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F172A"/>
                          </a:solidFill>
                          <a:latin typeface="Segoe UI"/>
                        </a:rPr>
                        <a:t>Open source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2563EB"/>
                          </a:solidFill>
                          <a:latin typeface="Segoe UI"/>
                        </a:rPr>
                        <a:t>Yes  ·  MIT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Yes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334155"/>
                          </a:solidFill>
                          <a:latin typeface="Segoe UI"/>
                        </a:rPr>
                        <a:t>N/A</a:t>
                      </a:r>
                    </a:p>
                  </a:txBody>
                  <a:tcPr marL="109728" marR="109728" marT="54864" marB="54864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ROADMAP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Roadmap to v1.0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Quarterly themes through Q1 2027  ·  Depth · Breadth · Trust · Stability.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31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269748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40080" y="1965960"/>
            <a:ext cx="2697480" cy="868680"/>
          </a:xfrm>
          <a:prstGeom prst="roundRect">
            <a:avLst>
              <a:gd name="adj" fmla="val 25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40080" y="2468880"/>
            <a:ext cx="2697480" cy="36576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68680" y="213055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BEAFE"/>
                </a:solidFill>
                <a:latin typeface="Segoe UI Semibold"/>
              </a:rPr>
              <a:t>Q2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423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Depth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317296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97280" y="30815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Multimodal memory (images)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385876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97280" y="37673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Filesystem connector</a:t>
            </a:r>
          </a:p>
        </p:txBody>
      </p:sp>
      <p:sp>
        <p:nvSpPr>
          <p:cNvPr id="22" name="Oval 21"/>
          <p:cNvSpPr/>
          <p:nvPr/>
        </p:nvSpPr>
        <p:spPr>
          <a:xfrm>
            <a:off x="914400" y="454456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097280" y="44531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OpenCode hooks (22 hooks)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5230368"/>
            <a:ext cx="91440" cy="9144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97280" y="51389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Governance baseline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56432" y="1965960"/>
            <a:ext cx="269748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456432" y="1965960"/>
            <a:ext cx="2697480" cy="868680"/>
          </a:xfrm>
          <a:prstGeom prst="roundRect">
            <a:avLst>
              <a:gd name="adj" fmla="val 25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3456432" y="2468880"/>
            <a:ext cx="2697480" cy="3657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685032" y="213055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BEAFE"/>
                </a:solidFill>
                <a:latin typeface="Segoe UI Semibold"/>
              </a:rPr>
              <a:t>Q3 2026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2423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Breadth</a:t>
            </a:r>
          </a:p>
        </p:txBody>
      </p:sp>
      <p:sp>
        <p:nvSpPr>
          <p:cNvPr id="31" name="Oval 30"/>
          <p:cNvSpPr/>
          <p:nvPr/>
        </p:nvSpPr>
        <p:spPr>
          <a:xfrm>
            <a:off x="3730752" y="3172968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13632" y="30815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Slack / Discord connector</a:t>
            </a:r>
          </a:p>
        </p:txBody>
      </p:sp>
      <p:sp>
        <p:nvSpPr>
          <p:cNvPr id="33" name="Oval 32"/>
          <p:cNvSpPr/>
          <p:nvPr/>
        </p:nvSpPr>
        <p:spPr>
          <a:xfrm>
            <a:off x="3730752" y="3858768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913632" y="37673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OpenSSF Scorecard</a:t>
            </a:r>
          </a:p>
        </p:txBody>
      </p:sp>
      <p:sp>
        <p:nvSpPr>
          <p:cNvPr id="35" name="Oval 34"/>
          <p:cNvSpPr/>
          <p:nvPr/>
        </p:nvSpPr>
        <p:spPr>
          <a:xfrm>
            <a:off x="3730752" y="4544568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913632" y="44531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Additional maintainers</a:t>
            </a:r>
          </a:p>
        </p:txBody>
      </p:sp>
      <p:sp>
        <p:nvSpPr>
          <p:cNvPr id="37" name="Oval 36"/>
          <p:cNvSpPr/>
          <p:nvPr/>
        </p:nvSpPr>
        <p:spPr>
          <a:xfrm>
            <a:off x="3730752" y="5230368"/>
            <a:ext cx="91440" cy="914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913632" y="51389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Plugin ecosystem growth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2784" y="1965960"/>
            <a:ext cx="269748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6272784" y="1965960"/>
            <a:ext cx="2697480" cy="868680"/>
          </a:xfrm>
          <a:prstGeom prst="roundRect">
            <a:avLst>
              <a:gd name="adj" fmla="val 25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6272784" y="2468880"/>
            <a:ext cx="2697480" cy="36576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501384" y="213055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BEAFE"/>
                </a:solidFill>
                <a:latin typeface="Segoe UI Semibold"/>
              </a:rPr>
              <a:t>Q4 2026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01384" y="2423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Trust</a:t>
            </a:r>
          </a:p>
        </p:txBody>
      </p:sp>
      <p:sp>
        <p:nvSpPr>
          <p:cNvPr id="44" name="Oval 43"/>
          <p:cNvSpPr/>
          <p:nvPr/>
        </p:nvSpPr>
        <p:spPr>
          <a:xfrm>
            <a:off x="6547104" y="317296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6729984" y="30815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SSO gateway (OIDC)</a:t>
            </a:r>
          </a:p>
        </p:txBody>
      </p:sp>
      <p:sp>
        <p:nvSpPr>
          <p:cNvPr id="46" name="Oval 45"/>
          <p:cNvSpPr/>
          <p:nvPr/>
        </p:nvSpPr>
        <p:spPr>
          <a:xfrm>
            <a:off x="6547104" y="385876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6729984" y="37673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Audit log export</a:t>
            </a:r>
          </a:p>
        </p:txBody>
      </p:sp>
      <p:sp>
        <p:nvSpPr>
          <p:cNvPr id="48" name="Oval 47"/>
          <p:cNvSpPr/>
          <p:nvPr/>
        </p:nvSpPr>
        <p:spPr>
          <a:xfrm>
            <a:off x="6547104" y="454456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6729984" y="44531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RBAC on memory scope</a:t>
            </a:r>
          </a:p>
        </p:txBody>
      </p:sp>
      <p:sp>
        <p:nvSpPr>
          <p:cNvPr id="50" name="Oval 49"/>
          <p:cNvSpPr/>
          <p:nvPr/>
        </p:nvSpPr>
        <p:spPr>
          <a:xfrm>
            <a:off x="6547104" y="5230368"/>
            <a:ext cx="91440" cy="91440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6729984" y="51389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External security audit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089136" y="1965960"/>
            <a:ext cx="2697480" cy="420624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9089136" y="1965960"/>
            <a:ext cx="2697480" cy="868680"/>
          </a:xfrm>
          <a:prstGeom prst="roundRect">
            <a:avLst>
              <a:gd name="adj" fmla="val 25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089136" y="2468880"/>
            <a:ext cx="2697480" cy="36576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317736" y="2130552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DBEAFE"/>
                </a:solidFill>
                <a:latin typeface="Segoe UI Semibold"/>
              </a:rPr>
              <a:t>Q1 2027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17736" y="2423160"/>
            <a:ext cx="2240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FFFFFF"/>
                </a:solidFill>
                <a:latin typeface="Segoe UI Semibold"/>
              </a:rPr>
              <a:t>v1.0</a:t>
            </a:r>
          </a:p>
        </p:txBody>
      </p:sp>
      <p:sp>
        <p:nvSpPr>
          <p:cNvPr id="57" name="Oval 56"/>
          <p:cNvSpPr/>
          <p:nvPr/>
        </p:nvSpPr>
        <p:spPr>
          <a:xfrm>
            <a:off x="9363456" y="3172968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546336" y="30815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REST + MCP surface freeze</a:t>
            </a:r>
          </a:p>
        </p:txBody>
      </p:sp>
      <p:sp>
        <p:nvSpPr>
          <p:cNvPr id="59" name="Oval 58"/>
          <p:cNvSpPr/>
          <p:nvPr/>
        </p:nvSpPr>
        <p:spPr>
          <a:xfrm>
            <a:off x="9363456" y="3858768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546336" y="37673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LTS branch v1.x · 12-month fixes</a:t>
            </a:r>
          </a:p>
        </p:txBody>
      </p:sp>
      <p:sp>
        <p:nvSpPr>
          <p:cNvPr id="61" name="Oval 60"/>
          <p:cNvSpPr/>
          <p:nvPr/>
        </p:nvSpPr>
        <p:spPr>
          <a:xfrm>
            <a:off x="9363456" y="4544568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9546336" y="44531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Foundation membership</a:t>
            </a:r>
          </a:p>
        </p:txBody>
      </p:sp>
      <p:sp>
        <p:nvSpPr>
          <p:cNvPr id="63" name="Oval 62"/>
          <p:cNvSpPr/>
          <p:nvPr/>
        </p:nvSpPr>
        <p:spPr>
          <a:xfrm>
            <a:off x="9363456" y="5230368"/>
            <a:ext cx="91440" cy="91440"/>
          </a:xfrm>
          <a:prstGeom prst="ellipse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9546336" y="5138928"/>
            <a:ext cx="20574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0">
                <a:solidFill>
                  <a:srgbClr val="334155"/>
                </a:solidFill>
                <a:latin typeface="Segoe UI"/>
              </a:rPr>
              <a:t>Semver stability guarantee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41280" y="320040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1" i="0">
                <a:solidFill>
                  <a:srgbClr val="64748B"/>
                </a:solidFill>
                <a:latin typeface="Segoe UI"/>
              </a:rPr>
              <a:t>agentmemory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65760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38404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000" b="1" i="0">
                <a:solidFill>
                  <a:srgbClr val="2563EB"/>
                </a:solidFill>
                <a:latin typeface="Segoe UI Semibold"/>
              </a:rPr>
              <a:t>WRAP-UP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804672"/>
            <a:ext cx="109728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 i="0">
                <a:solidFill>
                  <a:srgbClr val="0F172A"/>
                </a:solidFill>
                <a:latin typeface="Segoe UI Semibold"/>
              </a:rPr>
              <a:t>Summary  ·  Why agentmemory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08176"/>
            <a:ext cx="10972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64748B"/>
                </a:solidFill>
                <a:latin typeface="Segoe UI"/>
              </a:rPr>
              <a:t>Five reasons engineers choose agentmemory as their persistent memory layer.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1810512"/>
            <a:ext cx="548640" cy="0"/>
          </a:xfrm>
          <a:prstGeom prst="line">
            <a:avLst/>
          </a:prstGeom>
          <a:ln w="31750">
            <a:solidFill>
              <a:srgbClr val="2563E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6711696"/>
            <a:ext cx="548640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github.com/rohitg00/agentmemory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6711696"/>
            <a:ext cx="5394960" cy="1463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94A3B8"/>
                </a:solidFill>
                <a:latin typeface="Segoe UI"/>
              </a:rPr>
              <a:t>32  /  34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1965960"/>
            <a:ext cx="777240" cy="713232"/>
          </a:xfrm>
          <a:prstGeom prst="roundRect">
            <a:avLst>
              <a:gd name="adj" fmla="val 4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130552"/>
            <a:ext cx="777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554480" y="1965960"/>
            <a:ext cx="9994392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737360" y="20574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Zero manual effort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2350008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12 hooks capture everything automatically. No add() calls, no file maintenance.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788920"/>
            <a:ext cx="777240" cy="713232"/>
          </a:xfrm>
          <a:prstGeom prst="roundRect">
            <a:avLst>
              <a:gd name="adj" fmla="val 4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0080" y="2953512"/>
            <a:ext cx="777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02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554480" y="2788920"/>
            <a:ext cx="9994392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737360" y="288036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Works with every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3172968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One store across Claude Code · Copilot CLI · Cursor · Gemini CLI · Codex · and 10+ more.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3611880"/>
            <a:ext cx="777240" cy="713232"/>
          </a:xfrm>
          <a:prstGeom prst="roundRect">
            <a:avLst>
              <a:gd name="adj" fmla="val 4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080" y="3776472"/>
            <a:ext cx="777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03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554480" y="3611880"/>
            <a:ext cx="9994392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737360" y="370332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Highest recall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37360" y="3995928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95.2% R@5 via BM25 + Vector + Graph hybrid. Temporal queries grep misses.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" y="4434840"/>
            <a:ext cx="777240" cy="713232"/>
          </a:xfrm>
          <a:prstGeom prst="roundRect">
            <a:avLst>
              <a:gd name="adj" fmla="val 4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" y="4599432"/>
            <a:ext cx="777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554480" y="4434840"/>
            <a:ext cx="9994392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737360" y="45262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Near-zero cost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737360" y="4818888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$0/yr with local embeddings (all-MiniLM-L6-v2). 92% fewer tokens.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40080" y="5257800"/>
            <a:ext cx="777240" cy="713232"/>
          </a:xfrm>
          <a:prstGeom prst="roundRect">
            <a:avLst>
              <a:gd name="adj" fmla="val 4000"/>
            </a:avLst>
          </a:prstGeom>
          <a:solidFill>
            <a:srgbClr val="0891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0080" y="5422392"/>
            <a:ext cx="7772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FFFFFF"/>
                </a:solidFill>
                <a:latin typeface="Segoe UI Semibold"/>
              </a:rPr>
              <a:t>05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554480" y="5257800"/>
            <a:ext cx="9994392" cy="71323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1737360" y="534924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F172A"/>
                </a:solidFill>
                <a:latin typeface="Segoe UI Semibold"/>
              </a:rPr>
              <a:t>Self-hosted &amp; simple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737360" y="5641848"/>
            <a:ext cx="969264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64748B"/>
                </a:solidFill>
                <a:latin typeface="Segoe UI"/>
              </a:rPr>
              <a:t>SQLite only. No external DBs. Works offline. Real-time viewer included.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0080" y="6263640"/>
            <a:ext cx="10908792" cy="457200"/>
          </a:xfrm>
          <a:prstGeom prst="roundRect">
            <a:avLst>
              <a:gd name="adj" fmla="val 50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0080" y="6336792"/>
            <a:ext cx="1090879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DBEAFE"/>
                </a:solidFill>
                <a:latin typeface="Consolas"/>
              </a:rPr>
              <a:t>npm install -g @agentmemory/agentmemory   &amp;&amp;   agentmemory connect claude-code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3154</Words>
  <Application>Microsoft Office PowerPoint</Application>
  <PresentationFormat>Widescreen</PresentationFormat>
  <Paragraphs>854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41" baseType="lpstr">
      <vt:lpstr>Arial</vt:lpstr>
      <vt:lpstr>Calibri</vt:lpstr>
      <vt:lpstr>Consolas</vt:lpstr>
      <vt:lpstr>Segoe UI</vt:lpstr>
      <vt:lpstr>Segoe UI Light</vt:lpstr>
      <vt:lpstr>Segoe UI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Shivanand Vishwakarma</cp:lastModifiedBy>
  <cp:revision>1</cp:revision>
  <dcterms:created xsi:type="dcterms:W3CDTF">2013-01-27T09:14:16Z</dcterms:created>
  <dcterms:modified xsi:type="dcterms:W3CDTF">2026-06-03T16:53:53Z</dcterms:modified>
  <cp:category/>
</cp:coreProperties>
</file>